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5" r:id="rId1"/>
  </p:sldMasterIdLst>
  <p:notesMasterIdLst>
    <p:notesMasterId r:id="rId26"/>
  </p:notesMasterIdLst>
  <p:sldIdLst>
    <p:sldId id="256" r:id="rId2"/>
    <p:sldId id="305" r:id="rId3"/>
    <p:sldId id="258" r:id="rId4"/>
    <p:sldId id="259" r:id="rId5"/>
    <p:sldId id="307" r:id="rId6"/>
    <p:sldId id="261" r:id="rId7"/>
    <p:sldId id="263" r:id="rId8"/>
    <p:sldId id="266" r:id="rId9"/>
    <p:sldId id="267" r:id="rId10"/>
    <p:sldId id="308" r:id="rId11"/>
    <p:sldId id="310" r:id="rId12"/>
    <p:sldId id="309" r:id="rId13"/>
    <p:sldId id="311" r:id="rId14"/>
    <p:sldId id="318" r:id="rId15"/>
    <p:sldId id="314" r:id="rId16"/>
    <p:sldId id="315" r:id="rId17"/>
    <p:sldId id="316" r:id="rId18"/>
    <p:sldId id="317" r:id="rId19"/>
    <p:sldId id="312" r:id="rId20"/>
    <p:sldId id="283" r:id="rId21"/>
    <p:sldId id="319" r:id="rId22"/>
    <p:sldId id="320" r:id="rId23"/>
    <p:sldId id="280" r:id="rId24"/>
    <p:sldId id="281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8C18C6-CBF1-446E-9966-5B38D557E784}">
  <a:tblStyle styleId="{448C18C6-CBF1-446E-9966-5B38D557E7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9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3776a577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3776a577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37e1ef6f5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37e1ef6f5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3656d1f82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3656d1f82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202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37e1ef6f5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37e1ef6f5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37e1ef6f5c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37e1ef6f5c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37e1ef6f5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37e1ef6f5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37e1ef6f5c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37e1ef6f5c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37e1ef6f5c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137e1ef6f5c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9851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c6f6f4ce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c6f6f4ce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c6f6f4ce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c6f6f4ce3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3338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37e1ef6f5c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137e1ef6f5c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5250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37e1ef6f5c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137e1ef6f5c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137e1ef6f5c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137e1ef6f5c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546">
            <a:off x="3955643" y="3307488"/>
            <a:ext cx="37767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264000" y="1523700"/>
            <a:ext cx="5160000" cy="17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485900" y="2781325"/>
            <a:ext cx="6172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3796851" y="1125610"/>
            <a:ext cx="15501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 rot="777">
            <a:off x="2581275" y="4055591"/>
            <a:ext cx="3981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" name="Google Shape;15;p3"/>
          <p:cNvCxnSpPr/>
          <p:nvPr/>
        </p:nvCxnSpPr>
        <p:spPr>
          <a:xfrm>
            <a:off x="171450" y="2019300"/>
            <a:ext cx="409500" cy="28386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1400" y="3673651"/>
            <a:ext cx="2171249" cy="217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0500" y="1344675"/>
            <a:ext cx="1475374" cy="147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0948" y="3299265"/>
            <a:ext cx="2482811" cy="2482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20000" y="1237077"/>
            <a:ext cx="7704000" cy="25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493850" y="3529850"/>
            <a:ext cx="23367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5313325" y="3529850"/>
            <a:ext cx="23367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3"/>
          </p:nvPr>
        </p:nvSpPr>
        <p:spPr>
          <a:xfrm>
            <a:off x="1494006" y="310826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 idx="4"/>
          </p:nvPr>
        </p:nvSpPr>
        <p:spPr>
          <a:xfrm>
            <a:off x="5313481" y="310826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28" name="Google Shape;28;p5"/>
          <p:cNvCxnSpPr/>
          <p:nvPr/>
        </p:nvCxnSpPr>
        <p:spPr>
          <a:xfrm rot="10800000">
            <a:off x="6696225" y="571650"/>
            <a:ext cx="1923900" cy="361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29;p5"/>
          <p:cNvCxnSpPr/>
          <p:nvPr/>
        </p:nvCxnSpPr>
        <p:spPr>
          <a:xfrm rot="10800000" flipH="1">
            <a:off x="8372475" y="2581350"/>
            <a:ext cx="228600" cy="25812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89514" y="4299189"/>
            <a:ext cx="1554481" cy="156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08502" y="1794503"/>
            <a:ext cx="1554479" cy="155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6079" y="257179"/>
            <a:ext cx="667050" cy="6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8447" y="2289603"/>
            <a:ext cx="564300" cy="5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1225" y="-657225"/>
            <a:ext cx="2958751" cy="295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 rot="-402">
            <a:off x="720000" y="1270346"/>
            <a:ext cx="7704000" cy="33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40" name="Google Shape;40;p7"/>
          <p:cNvCxnSpPr/>
          <p:nvPr/>
        </p:nvCxnSpPr>
        <p:spPr>
          <a:xfrm flipH="1">
            <a:off x="7905750" y="2143125"/>
            <a:ext cx="1104900" cy="23337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7"/>
          <p:cNvCxnSpPr/>
          <p:nvPr/>
        </p:nvCxnSpPr>
        <p:spPr>
          <a:xfrm>
            <a:off x="5991225" y="28575"/>
            <a:ext cx="3076500" cy="21717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2" name="Google Shape;4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2050" y="1394023"/>
            <a:ext cx="1547000" cy="154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0701" y="-889726"/>
            <a:ext cx="1762651" cy="176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3875" y="3098600"/>
            <a:ext cx="2717751" cy="271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550" y="3463275"/>
            <a:ext cx="1988402" cy="19884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7"/>
          <p:cNvGrpSpPr/>
          <p:nvPr/>
        </p:nvGrpSpPr>
        <p:grpSpPr>
          <a:xfrm>
            <a:off x="7588090" y="4143141"/>
            <a:ext cx="489314" cy="628667"/>
            <a:chOff x="4020632" y="2016931"/>
            <a:chExt cx="292775" cy="376132"/>
          </a:xfrm>
        </p:grpSpPr>
        <p:sp>
          <p:nvSpPr>
            <p:cNvPr id="47" name="Google Shape;47;p7"/>
            <p:cNvSpPr/>
            <p:nvPr/>
          </p:nvSpPr>
          <p:spPr>
            <a:xfrm>
              <a:off x="4120182" y="2083053"/>
              <a:ext cx="127103" cy="118447"/>
            </a:xfrm>
            <a:custGeom>
              <a:avLst/>
              <a:gdLst/>
              <a:ahLst/>
              <a:cxnLst/>
              <a:rect l="l" t="t" r="r" b="b"/>
              <a:pathLst>
                <a:path w="3289" h="3065" extrusionOk="0">
                  <a:moveTo>
                    <a:pt x="2301" y="286"/>
                  </a:moveTo>
                  <a:cubicBezTo>
                    <a:pt x="2688" y="286"/>
                    <a:pt x="3003" y="601"/>
                    <a:pt x="3003" y="990"/>
                  </a:cubicBezTo>
                  <a:cubicBezTo>
                    <a:pt x="3003" y="1832"/>
                    <a:pt x="1933" y="2571"/>
                    <a:pt x="1645" y="2755"/>
                  </a:cubicBezTo>
                  <a:cubicBezTo>
                    <a:pt x="1354" y="2571"/>
                    <a:pt x="285" y="1833"/>
                    <a:pt x="285" y="990"/>
                  </a:cubicBezTo>
                  <a:cubicBezTo>
                    <a:pt x="285" y="601"/>
                    <a:pt x="601" y="286"/>
                    <a:pt x="989" y="286"/>
                  </a:cubicBezTo>
                  <a:cubicBezTo>
                    <a:pt x="1201" y="286"/>
                    <a:pt x="1400" y="380"/>
                    <a:pt x="1535" y="545"/>
                  </a:cubicBezTo>
                  <a:cubicBezTo>
                    <a:pt x="1561" y="577"/>
                    <a:pt x="1602" y="598"/>
                    <a:pt x="1645" y="598"/>
                  </a:cubicBezTo>
                  <a:cubicBezTo>
                    <a:pt x="1687" y="598"/>
                    <a:pt x="1728" y="577"/>
                    <a:pt x="1755" y="545"/>
                  </a:cubicBezTo>
                  <a:cubicBezTo>
                    <a:pt x="1888" y="380"/>
                    <a:pt x="2087" y="286"/>
                    <a:pt x="2301" y="286"/>
                  </a:cubicBezTo>
                  <a:close/>
                  <a:moveTo>
                    <a:pt x="989" y="1"/>
                  </a:moveTo>
                  <a:cubicBezTo>
                    <a:pt x="444" y="1"/>
                    <a:pt x="0" y="445"/>
                    <a:pt x="0" y="990"/>
                  </a:cubicBezTo>
                  <a:cubicBezTo>
                    <a:pt x="0" y="2123"/>
                    <a:pt x="1509" y="3009"/>
                    <a:pt x="1573" y="3046"/>
                  </a:cubicBezTo>
                  <a:cubicBezTo>
                    <a:pt x="1594" y="3058"/>
                    <a:pt x="1619" y="3064"/>
                    <a:pt x="1645" y="3064"/>
                  </a:cubicBezTo>
                  <a:cubicBezTo>
                    <a:pt x="1670" y="3064"/>
                    <a:pt x="1693" y="3058"/>
                    <a:pt x="1716" y="3046"/>
                  </a:cubicBezTo>
                  <a:cubicBezTo>
                    <a:pt x="1779" y="3009"/>
                    <a:pt x="3288" y="2123"/>
                    <a:pt x="3288" y="990"/>
                  </a:cubicBezTo>
                  <a:cubicBezTo>
                    <a:pt x="3288" y="444"/>
                    <a:pt x="2844" y="1"/>
                    <a:pt x="2300" y="1"/>
                  </a:cubicBezTo>
                  <a:cubicBezTo>
                    <a:pt x="2057" y="1"/>
                    <a:pt x="1825" y="90"/>
                    <a:pt x="1645" y="250"/>
                  </a:cubicBezTo>
                  <a:cubicBezTo>
                    <a:pt x="1465" y="91"/>
                    <a:pt x="1234" y="1"/>
                    <a:pt x="9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4020632" y="2016931"/>
              <a:ext cx="292775" cy="376132"/>
            </a:xfrm>
            <a:custGeom>
              <a:avLst/>
              <a:gdLst/>
              <a:ahLst/>
              <a:cxnLst/>
              <a:rect l="l" t="t" r="r" b="b"/>
              <a:pathLst>
                <a:path w="7576" h="9733" extrusionOk="0">
                  <a:moveTo>
                    <a:pt x="7282" y="286"/>
                  </a:moveTo>
                  <a:lnTo>
                    <a:pt x="7282" y="7167"/>
                  </a:lnTo>
                  <a:lnTo>
                    <a:pt x="1140" y="7167"/>
                  </a:lnTo>
                  <a:lnTo>
                    <a:pt x="1140" y="286"/>
                  </a:lnTo>
                  <a:close/>
                  <a:moveTo>
                    <a:pt x="874" y="301"/>
                  </a:moveTo>
                  <a:lnTo>
                    <a:pt x="874" y="7177"/>
                  </a:lnTo>
                  <a:cubicBezTo>
                    <a:pt x="652" y="7209"/>
                    <a:pt x="455" y="7313"/>
                    <a:pt x="304" y="7467"/>
                  </a:cubicBezTo>
                  <a:lnTo>
                    <a:pt x="304" y="998"/>
                  </a:lnTo>
                  <a:cubicBezTo>
                    <a:pt x="304" y="653"/>
                    <a:pt x="549" y="366"/>
                    <a:pt x="874" y="301"/>
                  </a:cubicBezTo>
                  <a:close/>
                  <a:moveTo>
                    <a:pt x="7163" y="8022"/>
                  </a:moveTo>
                  <a:cubicBezTo>
                    <a:pt x="7120" y="8112"/>
                    <a:pt x="7089" y="8207"/>
                    <a:pt x="7073" y="8308"/>
                  </a:cubicBezTo>
                  <a:lnTo>
                    <a:pt x="1445" y="8308"/>
                  </a:lnTo>
                  <a:lnTo>
                    <a:pt x="1445" y="8165"/>
                  </a:lnTo>
                  <a:cubicBezTo>
                    <a:pt x="1445" y="8114"/>
                    <a:pt x="1435" y="8068"/>
                    <a:pt x="1419" y="8022"/>
                  </a:cubicBezTo>
                  <a:close/>
                  <a:moveTo>
                    <a:pt x="7075" y="8592"/>
                  </a:moveTo>
                  <a:cubicBezTo>
                    <a:pt x="7089" y="8691"/>
                    <a:pt x="7120" y="8788"/>
                    <a:pt x="7166" y="8876"/>
                  </a:cubicBezTo>
                  <a:lnTo>
                    <a:pt x="1422" y="8876"/>
                  </a:lnTo>
                  <a:cubicBezTo>
                    <a:pt x="1436" y="8833"/>
                    <a:pt x="1446" y="8785"/>
                    <a:pt x="1446" y="8735"/>
                  </a:cubicBezTo>
                  <a:lnTo>
                    <a:pt x="1446" y="8592"/>
                  </a:lnTo>
                  <a:close/>
                  <a:moveTo>
                    <a:pt x="1017" y="8023"/>
                  </a:moveTo>
                  <a:cubicBezTo>
                    <a:pt x="1096" y="8023"/>
                    <a:pt x="1159" y="8086"/>
                    <a:pt x="1159" y="8165"/>
                  </a:cubicBezTo>
                  <a:lnTo>
                    <a:pt x="1159" y="8731"/>
                  </a:lnTo>
                  <a:cubicBezTo>
                    <a:pt x="1159" y="8799"/>
                    <a:pt x="1115" y="8859"/>
                    <a:pt x="1048" y="8874"/>
                  </a:cubicBezTo>
                  <a:cubicBezTo>
                    <a:pt x="1038" y="8876"/>
                    <a:pt x="1027" y="8877"/>
                    <a:pt x="1017" y="8877"/>
                  </a:cubicBezTo>
                  <a:cubicBezTo>
                    <a:pt x="938" y="8877"/>
                    <a:pt x="873" y="8813"/>
                    <a:pt x="873" y="8735"/>
                  </a:cubicBezTo>
                  <a:lnTo>
                    <a:pt x="873" y="8169"/>
                  </a:lnTo>
                  <a:cubicBezTo>
                    <a:pt x="873" y="8101"/>
                    <a:pt x="919" y="8041"/>
                    <a:pt x="985" y="8026"/>
                  </a:cubicBezTo>
                  <a:cubicBezTo>
                    <a:pt x="996" y="8024"/>
                    <a:pt x="1006" y="8023"/>
                    <a:pt x="1017" y="8023"/>
                  </a:cubicBezTo>
                  <a:close/>
                  <a:moveTo>
                    <a:pt x="7280" y="7452"/>
                  </a:moveTo>
                  <a:lnTo>
                    <a:pt x="7280" y="7737"/>
                  </a:lnTo>
                  <a:lnTo>
                    <a:pt x="998" y="7737"/>
                  </a:lnTo>
                  <a:cubicBezTo>
                    <a:pt x="762" y="7737"/>
                    <a:pt x="570" y="7929"/>
                    <a:pt x="570" y="8165"/>
                  </a:cubicBezTo>
                  <a:lnTo>
                    <a:pt x="570" y="8736"/>
                  </a:lnTo>
                  <a:cubicBezTo>
                    <a:pt x="570" y="8971"/>
                    <a:pt x="762" y="9164"/>
                    <a:pt x="998" y="9164"/>
                  </a:cubicBezTo>
                  <a:lnTo>
                    <a:pt x="7280" y="9164"/>
                  </a:lnTo>
                  <a:lnTo>
                    <a:pt x="7280" y="9448"/>
                  </a:lnTo>
                  <a:lnTo>
                    <a:pt x="998" y="9448"/>
                  </a:lnTo>
                  <a:cubicBezTo>
                    <a:pt x="604" y="9448"/>
                    <a:pt x="285" y="9129"/>
                    <a:pt x="285" y="8736"/>
                  </a:cubicBezTo>
                  <a:lnTo>
                    <a:pt x="285" y="8165"/>
                  </a:lnTo>
                  <a:cubicBezTo>
                    <a:pt x="285" y="7772"/>
                    <a:pt x="604" y="7452"/>
                    <a:pt x="998" y="7452"/>
                  </a:cubicBezTo>
                  <a:close/>
                  <a:moveTo>
                    <a:pt x="998" y="1"/>
                  </a:moveTo>
                  <a:cubicBezTo>
                    <a:pt x="447" y="1"/>
                    <a:pt x="0" y="447"/>
                    <a:pt x="0" y="998"/>
                  </a:cubicBezTo>
                  <a:lnTo>
                    <a:pt x="0" y="8735"/>
                  </a:lnTo>
                  <a:cubicBezTo>
                    <a:pt x="0" y="9286"/>
                    <a:pt x="447" y="9732"/>
                    <a:pt x="998" y="9732"/>
                  </a:cubicBezTo>
                  <a:lnTo>
                    <a:pt x="7432" y="9732"/>
                  </a:lnTo>
                  <a:cubicBezTo>
                    <a:pt x="7511" y="9732"/>
                    <a:pt x="7575" y="9669"/>
                    <a:pt x="7566" y="9589"/>
                  </a:cubicBezTo>
                  <a:lnTo>
                    <a:pt x="7566" y="9018"/>
                  </a:lnTo>
                  <a:cubicBezTo>
                    <a:pt x="7575" y="8980"/>
                    <a:pt x="7560" y="8944"/>
                    <a:pt x="7533" y="8917"/>
                  </a:cubicBezTo>
                  <a:cubicBezTo>
                    <a:pt x="7407" y="8791"/>
                    <a:pt x="7338" y="8625"/>
                    <a:pt x="7338" y="8449"/>
                  </a:cubicBezTo>
                  <a:cubicBezTo>
                    <a:pt x="7338" y="8272"/>
                    <a:pt x="7407" y="8105"/>
                    <a:pt x="7533" y="7980"/>
                  </a:cubicBezTo>
                  <a:cubicBezTo>
                    <a:pt x="7560" y="7953"/>
                    <a:pt x="7575" y="7916"/>
                    <a:pt x="7575" y="7879"/>
                  </a:cubicBezTo>
                  <a:lnTo>
                    <a:pt x="7566" y="7879"/>
                  </a:lnTo>
                  <a:lnTo>
                    <a:pt x="7566" y="144"/>
                  </a:lnTo>
                  <a:cubicBezTo>
                    <a:pt x="7566" y="65"/>
                    <a:pt x="7502" y="1"/>
                    <a:pt x="74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4075702" y="2038959"/>
              <a:ext cx="215330" cy="243966"/>
            </a:xfrm>
            <a:custGeom>
              <a:avLst/>
              <a:gdLst/>
              <a:ahLst/>
              <a:cxnLst/>
              <a:rect l="l" t="t" r="r" b="b"/>
              <a:pathLst>
                <a:path w="5572" h="6313" extrusionOk="0">
                  <a:moveTo>
                    <a:pt x="157" y="1"/>
                  </a:moveTo>
                  <a:cubicBezTo>
                    <a:pt x="82" y="1"/>
                    <a:pt x="21" y="61"/>
                    <a:pt x="21" y="136"/>
                  </a:cubicBezTo>
                  <a:lnTo>
                    <a:pt x="21" y="1847"/>
                  </a:lnTo>
                  <a:cubicBezTo>
                    <a:pt x="21" y="1910"/>
                    <a:pt x="63" y="1970"/>
                    <a:pt x="125" y="1983"/>
                  </a:cubicBezTo>
                  <a:cubicBezTo>
                    <a:pt x="135" y="1986"/>
                    <a:pt x="145" y="1987"/>
                    <a:pt x="155" y="1987"/>
                  </a:cubicBezTo>
                  <a:cubicBezTo>
                    <a:pt x="228" y="1987"/>
                    <a:pt x="287" y="1922"/>
                    <a:pt x="287" y="1844"/>
                  </a:cubicBezTo>
                  <a:lnTo>
                    <a:pt x="287" y="285"/>
                  </a:lnTo>
                  <a:lnTo>
                    <a:pt x="5287" y="285"/>
                  </a:lnTo>
                  <a:lnTo>
                    <a:pt x="5287" y="6026"/>
                  </a:lnTo>
                  <a:lnTo>
                    <a:pt x="307" y="6026"/>
                  </a:lnTo>
                  <a:lnTo>
                    <a:pt x="307" y="2422"/>
                  </a:lnTo>
                  <a:cubicBezTo>
                    <a:pt x="306" y="2356"/>
                    <a:pt x="264" y="2298"/>
                    <a:pt x="202" y="2280"/>
                  </a:cubicBezTo>
                  <a:cubicBezTo>
                    <a:pt x="185" y="2275"/>
                    <a:pt x="168" y="2272"/>
                    <a:pt x="152" y="2272"/>
                  </a:cubicBezTo>
                  <a:cubicBezTo>
                    <a:pt x="69" y="2272"/>
                    <a:pt x="0" y="2336"/>
                    <a:pt x="0" y="2415"/>
                  </a:cubicBezTo>
                  <a:lnTo>
                    <a:pt x="0" y="6170"/>
                  </a:lnTo>
                  <a:cubicBezTo>
                    <a:pt x="0" y="6248"/>
                    <a:pt x="64" y="6313"/>
                    <a:pt x="144" y="6313"/>
                  </a:cubicBezTo>
                  <a:lnTo>
                    <a:pt x="5429" y="6313"/>
                  </a:lnTo>
                  <a:cubicBezTo>
                    <a:pt x="5507" y="6313"/>
                    <a:pt x="5572" y="6249"/>
                    <a:pt x="5572" y="6170"/>
                  </a:cubicBezTo>
                  <a:lnTo>
                    <a:pt x="5572" y="144"/>
                  </a:lnTo>
                  <a:cubicBezTo>
                    <a:pt x="5572" y="65"/>
                    <a:pt x="5508" y="1"/>
                    <a:pt x="54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2473200" y="1377850"/>
            <a:ext cx="4197600" cy="10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2473200" y="2638175"/>
            <a:ext cx="4197600" cy="10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9"/>
          <p:cNvCxnSpPr/>
          <p:nvPr/>
        </p:nvCxnSpPr>
        <p:spPr>
          <a:xfrm flipH="1">
            <a:off x="7785150" y="914400"/>
            <a:ext cx="844500" cy="35037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62976" y="3545539"/>
            <a:ext cx="2480996" cy="248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6776" y="212552"/>
            <a:ext cx="1498948" cy="14989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9"/>
          <p:cNvCxnSpPr/>
          <p:nvPr/>
        </p:nvCxnSpPr>
        <p:spPr>
          <a:xfrm flipH="1">
            <a:off x="438225" y="2533650"/>
            <a:ext cx="409500" cy="23973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67;p9"/>
          <p:cNvCxnSpPr/>
          <p:nvPr/>
        </p:nvCxnSpPr>
        <p:spPr>
          <a:xfrm flipH="1">
            <a:off x="419175" y="4400550"/>
            <a:ext cx="1781100" cy="476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8" name="Google Shape;6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66776" y="3072399"/>
            <a:ext cx="2827748" cy="2827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597" y="2288803"/>
            <a:ext cx="539249" cy="53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974" y="4130924"/>
            <a:ext cx="539249" cy="53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1980345" y="1311900"/>
            <a:ext cx="24354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980239" y="1613142"/>
            <a:ext cx="24387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2" hasCustomPrompt="1"/>
          </p:nvPr>
        </p:nvSpPr>
        <p:spPr>
          <a:xfrm rot="2376">
            <a:off x="4874311" y="2621561"/>
            <a:ext cx="8682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3" hasCustomPrompt="1"/>
          </p:nvPr>
        </p:nvSpPr>
        <p:spPr>
          <a:xfrm>
            <a:off x="4874305" y="3787125"/>
            <a:ext cx="8682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4" hasCustomPrompt="1"/>
          </p:nvPr>
        </p:nvSpPr>
        <p:spPr>
          <a:xfrm>
            <a:off x="959880" y="2621710"/>
            <a:ext cx="8682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5"/>
          </p:nvPr>
        </p:nvSpPr>
        <p:spPr>
          <a:xfrm>
            <a:off x="1978867" y="2465148"/>
            <a:ext cx="24384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6"/>
          </p:nvPr>
        </p:nvSpPr>
        <p:spPr>
          <a:xfrm>
            <a:off x="1978750" y="2777344"/>
            <a:ext cx="2438400" cy="5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7"/>
          </p:nvPr>
        </p:nvSpPr>
        <p:spPr>
          <a:xfrm>
            <a:off x="1978867" y="3621106"/>
            <a:ext cx="24384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8"/>
          </p:nvPr>
        </p:nvSpPr>
        <p:spPr>
          <a:xfrm>
            <a:off x="1978750" y="3942827"/>
            <a:ext cx="2438400" cy="5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9"/>
          </p:nvPr>
        </p:nvSpPr>
        <p:spPr>
          <a:xfrm>
            <a:off x="5895260" y="3621102"/>
            <a:ext cx="24399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3"/>
          </p:nvPr>
        </p:nvSpPr>
        <p:spPr>
          <a:xfrm>
            <a:off x="5895253" y="3942825"/>
            <a:ext cx="2439900" cy="5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4"/>
          </p:nvPr>
        </p:nvSpPr>
        <p:spPr>
          <a:xfrm>
            <a:off x="5895260" y="2465140"/>
            <a:ext cx="24399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5"/>
          </p:nvPr>
        </p:nvSpPr>
        <p:spPr>
          <a:xfrm>
            <a:off x="5895253" y="2777338"/>
            <a:ext cx="2439900" cy="5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16"/>
          </p:nvPr>
        </p:nvSpPr>
        <p:spPr>
          <a:xfrm>
            <a:off x="5896460" y="1311887"/>
            <a:ext cx="24399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7"/>
          </p:nvPr>
        </p:nvSpPr>
        <p:spPr>
          <a:xfrm>
            <a:off x="5896454" y="1613131"/>
            <a:ext cx="2439900" cy="5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18" hasCustomPrompt="1"/>
          </p:nvPr>
        </p:nvSpPr>
        <p:spPr>
          <a:xfrm rot="2376">
            <a:off x="4874289" y="1451380"/>
            <a:ext cx="86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19" hasCustomPrompt="1"/>
          </p:nvPr>
        </p:nvSpPr>
        <p:spPr>
          <a:xfrm rot="1188">
            <a:off x="959875" y="1451225"/>
            <a:ext cx="8682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20" hasCustomPrompt="1"/>
          </p:nvPr>
        </p:nvSpPr>
        <p:spPr>
          <a:xfrm rot="1188">
            <a:off x="959873" y="3787263"/>
            <a:ext cx="8682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21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cxnSp>
        <p:nvCxnSpPr>
          <p:cNvPr id="118" name="Google Shape;118;p15"/>
          <p:cNvCxnSpPr/>
          <p:nvPr/>
        </p:nvCxnSpPr>
        <p:spPr>
          <a:xfrm flipH="1">
            <a:off x="281099" y="1781250"/>
            <a:ext cx="442800" cy="971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9" name="Google Shape;11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900" y="2571750"/>
            <a:ext cx="362999" cy="36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50" y="1312749"/>
            <a:ext cx="927901" cy="927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MAIN_POINT_1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720000" y="797175"/>
            <a:ext cx="3756900" cy="94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 rot="-223">
            <a:off x="720000" y="2270783"/>
            <a:ext cx="4629000" cy="21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title" idx="2"/>
          </p:nvPr>
        </p:nvSpPr>
        <p:spPr>
          <a:xfrm>
            <a:off x="717750" y="1246450"/>
            <a:ext cx="7708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1"/>
          </p:nvPr>
        </p:nvSpPr>
        <p:spPr>
          <a:xfrm>
            <a:off x="720000" y="1594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title" idx="3"/>
          </p:nvPr>
        </p:nvSpPr>
        <p:spPr>
          <a:xfrm>
            <a:off x="717750" y="2451275"/>
            <a:ext cx="7708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subTitle" idx="4"/>
          </p:nvPr>
        </p:nvSpPr>
        <p:spPr>
          <a:xfrm>
            <a:off x="717750" y="2799563"/>
            <a:ext cx="77085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 idx="5"/>
          </p:nvPr>
        </p:nvSpPr>
        <p:spPr>
          <a:xfrm>
            <a:off x="717750" y="3658913"/>
            <a:ext cx="7708500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6"/>
          </p:nvPr>
        </p:nvSpPr>
        <p:spPr>
          <a:xfrm>
            <a:off x="717750" y="4012725"/>
            <a:ext cx="77085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89475" y="1914525"/>
            <a:ext cx="814651" cy="814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9150" y="3224625"/>
            <a:ext cx="959649" cy="95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title" idx="2"/>
          </p:nvPr>
        </p:nvSpPr>
        <p:spPr>
          <a:xfrm>
            <a:off x="888852" y="1365275"/>
            <a:ext cx="42234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subTitle" idx="1"/>
          </p:nvPr>
        </p:nvSpPr>
        <p:spPr>
          <a:xfrm>
            <a:off x="888688" y="1683150"/>
            <a:ext cx="4223400" cy="27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title" idx="3"/>
          </p:nvPr>
        </p:nvSpPr>
        <p:spPr>
          <a:xfrm>
            <a:off x="5502063" y="1365263"/>
            <a:ext cx="25818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4"/>
          </p:nvPr>
        </p:nvSpPr>
        <p:spPr>
          <a:xfrm>
            <a:off x="5502063" y="1664812"/>
            <a:ext cx="2581800" cy="10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title" idx="5"/>
          </p:nvPr>
        </p:nvSpPr>
        <p:spPr>
          <a:xfrm>
            <a:off x="5503713" y="3033963"/>
            <a:ext cx="25785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ubTitle" idx="6"/>
          </p:nvPr>
        </p:nvSpPr>
        <p:spPr>
          <a:xfrm>
            <a:off x="5502213" y="3343100"/>
            <a:ext cx="2581500" cy="10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title" idx="2"/>
          </p:nvPr>
        </p:nvSpPr>
        <p:spPr>
          <a:xfrm>
            <a:off x="720900" y="1387575"/>
            <a:ext cx="1855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1"/>
          </p:nvPr>
        </p:nvSpPr>
        <p:spPr>
          <a:xfrm>
            <a:off x="720900" y="1803075"/>
            <a:ext cx="1855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title" idx="3"/>
          </p:nvPr>
        </p:nvSpPr>
        <p:spPr>
          <a:xfrm>
            <a:off x="3643944" y="1387575"/>
            <a:ext cx="1856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subTitle" idx="4"/>
          </p:nvPr>
        </p:nvSpPr>
        <p:spPr>
          <a:xfrm>
            <a:off x="3643946" y="1803075"/>
            <a:ext cx="1856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title" idx="5"/>
          </p:nvPr>
        </p:nvSpPr>
        <p:spPr>
          <a:xfrm>
            <a:off x="720900" y="3602675"/>
            <a:ext cx="18552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6"/>
          </p:nvPr>
        </p:nvSpPr>
        <p:spPr>
          <a:xfrm>
            <a:off x="720900" y="4017750"/>
            <a:ext cx="18552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title" idx="7"/>
          </p:nvPr>
        </p:nvSpPr>
        <p:spPr>
          <a:xfrm>
            <a:off x="3643944" y="3602675"/>
            <a:ext cx="1856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7" name="Google Shape;167;p22"/>
          <p:cNvSpPr txBox="1">
            <a:spLocks noGrp="1"/>
          </p:cNvSpPr>
          <p:nvPr>
            <p:ph type="subTitle" idx="8"/>
          </p:nvPr>
        </p:nvSpPr>
        <p:spPr>
          <a:xfrm>
            <a:off x="3643946" y="4017750"/>
            <a:ext cx="18561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2"/>
          <p:cNvSpPr txBox="1">
            <a:spLocks noGrp="1"/>
          </p:cNvSpPr>
          <p:nvPr>
            <p:ph type="title" idx="9"/>
          </p:nvPr>
        </p:nvSpPr>
        <p:spPr>
          <a:xfrm>
            <a:off x="6567895" y="1387575"/>
            <a:ext cx="1856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subTitle" idx="13"/>
          </p:nvPr>
        </p:nvSpPr>
        <p:spPr>
          <a:xfrm>
            <a:off x="6567900" y="1803075"/>
            <a:ext cx="1856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title" idx="14"/>
          </p:nvPr>
        </p:nvSpPr>
        <p:spPr>
          <a:xfrm>
            <a:off x="6567895" y="3602675"/>
            <a:ext cx="1856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subTitle" idx="15"/>
          </p:nvPr>
        </p:nvSpPr>
        <p:spPr>
          <a:xfrm>
            <a:off x="6567899" y="4017750"/>
            <a:ext cx="18561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2" name="Google Shape;172;p22"/>
          <p:cNvCxnSpPr/>
          <p:nvPr/>
        </p:nvCxnSpPr>
        <p:spPr>
          <a:xfrm>
            <a:off x="7620000" y="276225"/>
            <a:ext cx="1305000" cy="7716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4000" y="320725"/>
            <a:ext cx="1481274" cy="148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4098" y="-336850"/>
            <a:ext cx="1172899" cy="117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/>
        </p:nvSpPr>
        <p:spPr>
          <a:xfrm>
            <a:off x="4579625" y="3529200"/>
            <a:ext cx="35853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CREDITS:</a:t>
            </a:r>
            <a:r>
              <a:rPr lang="en" sz="11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" sz="11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including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" sz="11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87" name="Google Shape;187;p24"/>
          <p:cNvSpPr txBox="1">
            <a:spLocks noGrp="1"/>
          </p:cNvSpPr>
          <p:nvPr>
            <p:ph type="ctrTitle"/>
          </p:nvPr>
        </p:nvSpPr>
        <p:spPr>
          <a:xfrm>
            <a:off x="4371976" y="612300"/>
            <a:ext cx="4000500" cy="11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subTitle" idx="1"/>
          </p:nvPr>
        </p:nvSpPr>
        <p:spPr>
          <a:xfrm>
            <a:off x="4479525" y="2100399"/>
            <a:ext cx="3785400" cy="14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subTitle" idx="2"/>
          </p:nvPr>
        </p:nvSpPr>
        <p:spPr>
          <a:xfrm rot="-962">
            <a:off x="4763945" y="4229842"/>
            <a:ext cx="32166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25"/>
          <p:cNvCxnSpPr/>
          <p:nvPr/>
        </p:nvCxnSpPr>
        <p:spPr>
          <a:xfrm flipH="1">
            <a:off x="438225" y="2533650"/>
            <a:ext cx="409500" cy="23973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5"/>
          <p:cNvCxnSpPr/>
          <p:nvPr/>
        </p:nvCxnSpPr>
        <p:spPr>
          <a:xfrm flipH="1">
            <a:off x="419175" y="4400550"/>
            <a:ext cx="1781100" cy="476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866776" y="3072399"/>
            <a:ext cx="2827748" cy="2827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597" y="2288803"/>
            <a:ext cx="539249" cy="53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60974" y="4130924"/>
            <a:ext cx="539249" cy="5392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25"/>
          <p:cNvCxnSpPr/>
          <p:nvPr/>
        </p:nvCxnSpPr>
        <p:spPr>
          <a:xfrm flipH="1">
            <a:off x="7785150" y="914400"/>
            <a:ext cx="844500" cy="35037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7" name="Google Shape;19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2976" y="3545539"/>
            <a:ext cx="2480996" cy="248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16776" y="212552"/>
            <a:ext cx="1498948" cy="1498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26"/>
          <p:cNvCxnSpPr/>
          <p:nvPr/>
        </p:nvCxnSpPr>
        <p:spPr>
          <a:xfrm>
            <a:off x="8039100" y="1133475"/>
            <a:ext cx="733500" cy="17526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6"/>
          <p:cNvCxnSpPr/>
          <p:nvPr/>
        </p:nvCxnSpPr>
        <p:spPr>
          <a:xfrm rot="10800000" flipH="1">
            <a:off x="7048500" y="2838450"/>
            <a:ext cx="1724100" cy="1866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2" name="Google Shape;202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6079" y="4377179"/>
            <a:ext cx="605402" cy="605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6673" y="1482749"/>
            <a:ext cx="2482811" cy="248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9123" y="540002"/>
            <a:ext cx="1169100" cy="11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Libre Baskerville"/>
              <a:buNone/>
              <a:defRPr sz="2800" b="1">
                <a:solidFill>
                  <a:schemeClr val="accen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8" r:id="rId8"/>
    <p:sldLayoutId id="2147483659" r:id="rId9"/>
    <p:sldLayoutId id="2147483661" r:id="rId10"/>
    <p:sldLayoutId id="2147483664" r:id="rId11"/>
    <p:sldLayoutId id="2147483665" r:id="rId12"/>
    <p:sldLayoutId id="2147483666" r:id="rId13"/>
    <p:sldLayoutId id="2147483668" r:id="rId14"/>
    <p:sldLayoutId id="2147483670" r:id="rId15"/>
    <p:sldLayoutId id="2147483671" r:id="rId16"/>
    <p:sldLayoutId id="2147483672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>
            <a:spLocks noGrp="1"/>
          </p:cNvSpPr>
          <p:nvPr>
            <p:ph type="subTitle" idx="1"/>
          </p:nvPr>
        </p:nvSpPr>
        <p:spPr>
          <a:xfrm rot="-546">
            <a:off x="5176799" y="3287651"/>
            <a:ext cx="3776700" cy="8685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n-lt"/>
              </a:rPr>
              <a:t>Bui Duy Thuan</a:t>
            </a:r>
          </a:p>
          <a:p>
            <a:pPr marL="0" lvl="0" indent="0" algn="r"/>
            <a:r>
              <a:rPr lang="en" dirty="0" smtClean="0">
                <a:latin typeface="+mn-lt"/>
              </a:rPr>
              <a:t>Supervisor, </a:t>
            </a:r>
            <a:r>
              <a:rPr lang="en-US" dirty="0" err="1">
                <a:latin typeface="+mn-lt"/>
              </a:rPr>
              <a:t>Anupam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Mazumdar</a:t>
            </a:r>
            <a:endParaRPr dirty="0">
              <a:latin typeface="+mn-lt"/>
            </a:endParaRPr>
          </a:p>
        </p:txBody>
      </p:sp>
      <p:sp>
        <p:nvSpPr>
          <p:cNvPr id="216" name="Google Shape;216;p30"/>
          <p:cNvSpPr txBox="1">
            <a:spLocks noGrp="1"/>
          </p:cNvSpPr>
          <p:nvPr>
            <p:ph type="ctrTitle"/>
          </p:nvPr>
        </p:nvSpPr>
        <p:spPr>
          <a:xfrm>
            <a:off x="2680348" y="843475"/>
            <a:ext cx="6573644" cy="26277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 dirty="0">
                <a:latin typeface="+mn-lt"/>
              </a:rPr>
              <a:t>THE STUDY OF THE IMPACT OF SOCIAL MEDIA </a:t>
            </a:r>
            <a:r>
              <a:rPr lang="en-US" sz="2500" dirty="0" smtClean="0">
                <a:latin typeface="+mn-lt"/>
              </a:rPr>
              <a:t>MARKETING ON PURCHASE INTENTION</a:t>
            </a:r>
            <a:r>
              <a:rPr lang="en-US" sz="2500" dirty="0">
                <a:latin typeface="+mn-lt"/>
              </a:rPr>
              <a:t>: A </a:t>
            </a:r>
            <a:r>
              <a:rPr lang="en-US" sz="2500" dirty="0" smtClean="0">
                <a:latin typeface="+mn-lt"/>
              </a:rPr>
              <a:t>CASE STUDY </a:t>
            </a:r>
            <a:r>
              <a:rPr lang="en-US" sz="2500" dirty="0">
                <a:latin typeface="+mn-lt"/>
              </a:rPr>
              <a:t>OF </a:t>
            </a:r>
            <a:r>
              <a:rPr lang="en-US" sz="2500" dirty="0" err="1">
                <a:latin typeface="+mn-lt"/>
              </a:rPr>
              <a:t>BLUESEED</a:t>
            </a:r>
            <a:r>
              <a:rPr lang="en-US" sz="2500" dirty="0">
                <a:latin typeface="+mn-lt"/>
              </a:rPr>
              <a:t> </a:t>
            </a:r>
            <a:r>
              <a:rPr lang="en-US" sz="2500" dirty="0" smtClean="0">
                <a:latin typeface="+mn-lt"/>
              </a:rPr>
              <a:t>DIGITAL COMPANY</a:t>
            </a:r>
            <a:endParaRPr sz="2500" dirty="0">
              <a:solidFill>
                <a:schemeClr val="accent1"/>
              </a:solidFill>
              <a:latin typeface="+mn-lt"/>
            </a:endParaRPr>
          </a:p>
        </p:txBody>
      </p:sp>
      <p:cxnSp>
        <p:nvCxnSpPr>
          <p:cNvPr id="217" name="Google Shape;217;p30"/>
          <p:cNvCxnSpPr/>
          <p:nvPr/>
        </p:nvCxnSpPr>
        <p:spPr>
          <a:xfrm rot="10800000">
            <a:off x="1800225" y="400275"/>
            <a:ext cx="38100" cy="2142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30"/>
          <p:cNvCxnSpPr/>
          <p:nvPr/>
        </p:nvCxnSpPr>
        <p:spPr>
          <a:xfrm rot="10800000" flipH="1">
            <a:off x="1847850" y="885675"/>
            <a:ext cx="685800" cy="16956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30"/>
          <p:cNvCxnSpPr/>
          <p:nvPr/>
        </p:nvCxnSpPr>
        <p:spPr>
          <a:xfrm rot="10800000">
            <a:off x="1295550" y="1047900"/>
            <a:ext cx="552300" cy="15429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30"/>
          <p:cNvCxnSpPr/>
          <p:nvPr/>
        </p:nvCxnSpPr>
        <p:spPr>
          <a:xfrm rot="10800000">
            <a:off x="352575" y="1533450"/>
            <a:ext cx="1504800" cy="10383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30"/>
          <p:cNvCxnSpPr/>
          <p:nvPr/>
        </p:nvCxnSpPr>
        <p:spPr>
          <a:xfrm flipH="1">
            <a:off x="600150" y="2562225"/>
            <a:ext cx="1247700" cy="11433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30"/>
          <p:cNvCxnSpPr/>
          <p:nvPr/>
        </p:nvCxnSpPr>
        <p:spPr>
          <a:xfrm flipH="1">
            <a:off x="1247850" y="2552700"/>
            <a:ext cx="600000" cy="22290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30"/>
          <p:cNvCxnSpPr/>
          <p:nvPr/>
        </p:nvCxnSpPr>
        <p:spPr>
          <a:xfrm flipH="1">
            <a:off x="1845547" y="2552676"/>
            <a:ext cx="2400" cy="1528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30"/>
          <p:cNvCxnSpPr/>
          <p:nvPr/>
        </p:nvCxnSpPr>
        <p:spPr>
          <a:xfrm>
            <a:off x="1843100" y="2574125"/>
            <a:ext cx="988200" cy="18027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30"/>
          <p:cNvCxnSpPr/>
          <p:nvPr/>
        </p:nvCxnSpPr>
        <p:spPr>
          <a:xfrm>
            <a:off x="1845475" y="2562225"/>
            <a:ext cx="1988400" cy="1609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6" name="Google Shape;22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051" y="248326"/>
            <a:ext cx="1019776" cy="1019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700" y="764552"/>
            <a:ext cx="501699" cy="503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5076" y="4029074"/>
            <a:ext cx="817599" cy="81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8200" y="4314825"/>
            <a:ext cx="1371601" cy="137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7868" y="3987000"/>
            <a:ext cx="501700" cy="5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62093" y="91275"/>
            <a:ext cx="501700" cy="5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18" y="1268100"/>
            <a:ext cx="501700" cy="5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7122" y="3503716"/>
            <a:ext cx="426895" cy="42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3947" y="3943275"/>
            <a:ext cx="241401" cy="241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124" y="1220686"/>
            <a:ext cx="3109460" cy="2925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17" y="1985186"/>
            <a:ext cx="1744371" cy="15451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5450" y="266725"/>
            <a:ext cx="6172200" cy="841800"/>
          </a:xfrm>
        </p:spPr>
        <p:txBody>
          <a:bodyPr/>
          <a:lstStyle/>
          <a:p>
            <a:r>
              <a:rPr lang="en-US" dirty="0">
                <a:latin typeface="+mn-lt"/>
              </a:rPr>
              <a:t>Acknowledgement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 rot="777">
            <a:off x="1025428" y="1428759"/>
            <a:ext cx="4073623" cy="2387597"/>
          </a:xfrm>
        </p:spPr>
        <p:txBody>
          <a:bodyPr/>
          <a:lstStyle/>
          <a:p>
            <a:pPr algn="l">
              <a:spcAft>
                <a:spcPts val="1200"/>
              </a:spcAft>
            </a:pPr>
            <a:r>
              <a:rPr lang="en-US" sz="1800" dirty="0" smtClean="0">
                <a:latin typeface="+mn-lt"/>
              </a:rPr>
              <a:t>- Mr. </a:t>
            </a:r>
            <a:r>
              <a:rPr lang="en-US" sz="1800" dirty="0" err="1" smtClean="0">
                <a:latin typeface="+mn-lt"/>
              </a:rPr>
              <a:t>Anupam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Mazumdar</a:t>
            </a:r>
            <a:endParaRPr lang="en-US" sz="1800" dirty="0" smtClean="0">
              <a:latin typeface="+mn-lt"/>
            </a:endParaRPr>
          </a:p>
          <a:p>
            <a:pPr algn="l">
              <a:spcAft>
                <a:spcPts val="1200"/>
              </a:spcAft>
            </a:pPr>
            <a:r>
              <a:rPr lang="en-US" sz="1800" dirty="0" smtClean="0">
                <a:latin typeface="+mn-lt"/>
              </a:rPr>
              <a:t>- Mr</a:t>
            </a:r>
            <a:r>
              <a:rPr lang="en-US" sz="1800" dirty="0">
                <a:latin typeface="+mn-lt"/>
              </a:rPr>
              <a:t>. David </a:t>
            </a:r>
            <a:r>
              <a:rPr lang="en-US" sz="1800" dirty="0" err="1" smtClean="0">
                <a:latin typeface="+mn-lt"/>
              </a:rPr>
              <a:t>Ratcliffe</a:t>
            </a:r>
            <a:endParaRPr lang="en-US" sz="1800" dirty="0">
              <a:latin typeface="+mn-lt"/>
            </a:endParaRPr>
          </a:p>
          <a:p>
            <a:pPr algn="l">
              <a:spcAft>
                <a:spcPts val="1200"/>
              </a:spcAft>
            </a:pPr>
            <a:r>
              <a:rPr lang="en-US" sz="1800" dirty="0" smtClean="0">
                <a:latin typeface="+mn-lt"/>
              </a:rPr>
              <a:t>- Ms</a:t>
            </a:r>
            <a:r>
              <a:rPr lang="en-US" sz="1800" dirty="0">
                <a:latin typeface="+mn-lt"/>
              </a:rPr>
              <a:t>. Pham </a:t>
            </a:r>
            <a:r>
              <a:rPr lang="en-US" sz="1800" dirty="0" err="1">
                <a:latin typeface="+mn-lt"/>
              </a:rPr>
              <a:t>Thi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Tuyet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smtClean="0">
                <a:latin typeface="+mn-lt"/>
              </a:rPr>
              <a:t>Trinh</a:t>
            </a:r>
          </a:p>
          <a:p>
            <a:pPr algn="l">
              <a:spcAft>
                <a:spcPts val="1200"/>
              </a:spcAft>
            </a:pPr>
            <a:r>
              <a:rPr lang="en-US" sz="1800" dirty="0" smtClean="0">
                <a:latin typeface="+mn-lt"/>
              </a:rPr>
              <a:t>- </a:t>
            </a:r>
            <a:r>
              <a:rPr lang="en-US" sz="1800" dirty="0" err="1" smtClean="0">
                <a:latin typeface="+mn-lt"/>
              </a:rPr>
              <a:t>Blueseed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>
                <a:latin typeface="+mn-lt"/>
              </a:rPr>
              <a:t>Digital company </a:t>
            </a:r>
            <a:endParaRPr lang="en-US" sz="1800" dirty="0" smtClean="0">
              <a:latin typeface="+mn-lt"/>
            </a:endParaRPr>
          </a:p>
          <a:p>
            <a:pPr algn="l">
              <a:spcAft>
                <a:spcPts val="1200"/>
              </a:spcAft>
            </a:pPr>
            <a:r>
              <a:rPr lang="en-US" sz="1800" dirty="0" smtClean="0">
                <a:latin typeface="+mn-lt"/>
              </a:rPr>
              <a:t>- My participants</a:t>
            </a:r>
          </a:p>
          <a:p>
            <a:pPr algn="l">
              <a:spcAft>
                <a:spcPts val="1200"/>
              </a:spcAft>
            </a:pPr>
            <a:r>
              <a:rPr lang="en-US" sz="1800" dirty="0" smtClean="0">
                <a:latin typeface="+mn-lt"/>
              </a:rPr>
              <a:t>- My </a:t>
            </a:r>
            <a:r>
              <a:rPr lang="en-US" sz="1800" dirty="0">
                <a:latin typeface="+mn-lt"/>
              </a:rPr>
              <a:t>family and friends</a:t>
            </a:r>
          </a:p>
        </p:txBody>
      </p:sp>
    </p:spTree>
    <p:extLst>
      <p:ext uri="{BB962C8B-B14F-4D97-AF65-F5344CB8AC3E}">
        <p14:creationId xmlns:p14="http://schemas.microsoft.com/office/powerpoint/2010/main" val="45256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Google Shape;262;p32"/>
          <p:cNvCxnSpPr/>
          <p:nvPr/>
        </p:nvCxnSpPr>
        <p:spPr>
          <a:xfrm>
            <a:off x="6962775" y="161925"/>
            <a:ext cx="1571700" cy="5430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32"/>
          <p:cNvSpPr txBox="1">
            <a:spLocks noGrp="1"/>
          </p:cNvSpPr>
          <p:nvPr>
            <p:ph type="title"/>
          </p:nvPr>
        </p:nvSpPr>
        <p:spPr>
          <a:xfrm>
            <a:off x="1978867" y="1622739"/>
            <a:ext cx="2435400" cy="4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n-lt"/>
              </a:rPr>
              <a:t>Introduction</a:t>
            </a:r>
            <a:endParaRPr dirty="0">
              <a:latin typeface="+mn-lt"/>
            </a:endParaRPr>
          </a:p>
        </p:txBody>
      </p:sp>
      <p:sp>
        <p:nvSpPr>
          <p:cNvPr id="265" name="Google Shape;265;p32"/>
          <p:cNvSpPr txBox="1">
            <a:spLocks noGrp="1"/>
          </p:cNvSpPr>
          <p:nvPr>
            <p:ph type="title" idx="5"/>
          </p:nvPr>
        </p:nvSpPr>
        <p:spPr>
          <a:xfrm>
            <a:off x="1975867" y="2740771"/>
            <a:ext cx="24384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n-lt"/>
              </a:rPr>
              <a:t>Literature review</a:t>
            </a:r>
            <a:endParaRPr dirty="0">
              <a:latin typeface="+mn-lt"/>
            </a:endParaRPr>
          </a:p>
        </p:txBody>
      </p:sp>
      <p:sp>
        <p:nvSpPr>
          <p:cNvPr id="267" name="Google Shape;267;p32"/>
          <p:cNvSpPr txBox="1">
            <a:spLocks noGrp="1"/>
          </p:cNvSpPr>
          <p:nvPr>
            <p:ph type="title" idx="7"/>
          </p:nvPr>
        </p:nvSpPr>
        <p:spPr>
          <a:xfrm>
            <a:off x="1975867" y="3941545"/>
            <a:ext cx="24384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n-lt"/>
              </a:rPr>
              <a:t>Methodology</a:t>
            </a:r>
            <a:endParaRPr dirty="0">
              <a:latin typeface="+mn-lt"/>
            </a:endParaRPr>
          </a:p>
        </p:txBody>
      </p:sp>
      <p:sp>
        <p:nvSpPr>
          <p:cNvPr id="269" name="Google Shape;269;p32"/>
          <p:cNvSpPr txBox="1">
            <a:spLocks noGrp="1"/>
          </p:cNvSpPr>
          <p:nvPr>
            <p:ph type="title" idx="9"/>
          </p:nvPr>
        </p:nvSpPr>
        <p:spPr>
          <a:xfrm>
            <a:off x="5894849" y="3941545"/>
            <a:ext cx="24399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n-lt"/>
              </a:rPr>
              <a:t>Reference list</a:t>
            </a:r>
            <a:endParaRPr dirty="0">
              <a:latin typeface="+mn-lt"/>
            </a:endParaRPr>
          </a:p>
        </p:txBody>
      </p:sp>
      <p:sp>
        <p:nvSpPr>
          <p:cNvPr id="271" name="Google Shape;271;p32"/>
          <p:cNvSpPr txBox="1">
            <a:spLocks noGrp="1"/>
          </p:cNvSpPr>
          <p:nvPr>
            <p:ph type="title" idx="14"/>
          </p:nvPr>
        </p:nvSpPr>
        <p:spPr>
          <a:xfrm>
            <a:off x="5894828" y="2740771"/>
            <a:ext cx="24399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n-lt"/>
              </a:rPr>
              <a:t>Conclusion</a:t>
            </a:r>
            <a:endParaRPr dirty="0">
              <a:latin typeface="+mn-lt"/>
            </a:endParaRPr>
          </a:p>
        </p:txBody>
      </p:sp>
      <p:sp>
        <p:nvSpPr>
          <p:cNvPr id="273" name="Google Shape;273;p32"/>
          <p:cNvSpPr txBox="1">
            <a:spLocks noGrp="1"/>
          </p:cNvSpPr>
          <p:nvPr>
            <p:ph type="title" idx="16"/>
          </p:nvPr>
        </p:nvSpPr>
        <p:spPr>
          <a:xfrm>
            <a:off x="5894828" y="1572734"/>
            <a:ext cx="2439900" cy="42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n-lt"/>
              </a:rPr>
              <a:t>Findings</a:t>
            </a:r>
            <a:endParaRPr dirty="0">
              <a:latin typeface="+mn-lt"/>
            </a:endParaRPr>
          </a:p>
        </p:txBody>
      </p:sp>
      <p:sp>
        <p:nvSpPr>
          <p:cNvPr id="275" name="Google Shape;275;p32"/>
          <p:cNvSpPr txBox="1">
            <a:spLocks noGrp="1"/>
          </p:cNvSpPr>
          <p:nvPr>
            <p:ph type="title" idx="21"/>
          </p:nvPr>
        </p:nvSpPr>
        <p:spPr>
          <a:xfrm>
            <a:off x="640464" y="323081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n-lt"/>
              </a:rPr>
              <a:t>Table of contents</a:t>
            </a:r>
            <a:endParaRPr dirty="0">
              <a:latin typeface="+mn-lt"/>
            </a:endParaRPr>
          </a:p>
        </p:txBody>
      </p:sp>
      <p:pic>
        <p:nvPicPr>
          <p:cNvPr id="276" name="Google Shape;27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500" y="1161450"/>
            <a:ext cx="1172899" cy="1172927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>
            <a:spLocks noGrp="1"/>
          </p:cNvSpPr>
          <p:nvPr>
            <p:ph type="title" idx="19"/>
          </p:nvPr>
        </p:nvSpPr>
        <p:spPr>
          <a:xfrm rot="1188">
            <a:off x="959875" y="1451225"/>
            <a:ext cx="868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n-lt"/>
              </a:rPr>
              <a:t>01</a:t>
            </a:r>
            <a:endParaRPr dirty="0">
              <a:latin typeface="+mn-lt"/>
            </a:endParaRPr>
          </a:p>
        </p:txBody>
      </p:sp>
      <p:pic>
        <p:nvPicPr>
          <p:cNvPr id="278" name="Google Shape;2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500" y="2329487"/>
            <a:ext cx="1172899" cy="1172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500" y="3502437"/>
            <a:ext cx="1172899" cy="1172927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2"/>
          <p:cNvSpPr txBox="1">
            <a:spLocks noGrp="1"/>
          </p:cNvSpPr>
          <p:nvPr>
            <p:ph type="title" idx="4"/>
          </p:nvPr>
        </p:nvSpPr>
        <p:spPr>
          <a:xfrm>
            <a:off x="959880" y="2621710"/>
            <a:ext cx="868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+mn-lt"/>
              </a:rPr>
              <a:t>02</a:t>
            </a:r>
            <a:endParaRPr>
              <a:latin typeface="+mn-lt"/>
            </a:endParaRPr>
          </a:p>
        </p:txBody>
      </p:sp>
      <p:sp>
        <p:nvSpPr>
          <p:cNvPr id="281" name="Google Shape;281;p32"/>
          <p:cNvSpPr txBox="1">
            <a:spLocks noGrp="1"/>
          </p:cNvSpPr>
          <p:nvPr>
            <p:ph type="title" idx="20"/>
          </p:nvPr>
        </p:nvSpPr>
        <p:spPr>
          <a:xfrm rot="1188">
            <a:off x="959873" y="3787263"/>
            <a:ext cx="868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+mn-lt"/>
              </a:rPr>
              <a:t>03</a:t>
            </a:r>
            <a:endParaRPr>
              <a:latin typeface="+mn-lt"/>
            </a:endParaRPr>
          </a:p>
        </p:txBody>
      </p:sp>
      <p:pic>
        <p:nvPicPr>
          <p:cNvPr id="282" name="Google Shape;2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950" y="1161450"/>
            <a:ext cx="1172899" cy="1172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950" y="2329487"/>
            <a:ext cx="1172899" cy="1172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950" y="3502437"/>
            <a:ext cx="1172899" cy="1172927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2"/>
          <p:cNvSpPr txBox="1">
            <a:spLocks noGrp="1"/>
          </p:cNvSpPr>
          <p:nvPr>
            <p:ph type="title" idx="2"/>
          </p:nvPr>
        </p:nvSpPr>
        <p:spPr>
          <a:xfrm rot="2376">
            <a:off x="4874311" y="2621561"/>
            <a:ext cx="868200" cy="59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+mn-lt"/>
              </a:rPr>
              <a:t>05</a:t>
            </a:r>
            <a:endParaRPr>
              <a:latin typeface="+mn-lt"/>
            </a:endParaRPr>
          </a:p>
        </p:txBody>
      </p:sp>
      <p:sp>
        <p:nvSpPr>
          <p:cNvPr id="286" name="Google Shape;286;p32"/>
          <p:cNvSpPr txBox="1">
            <a:spLocks noGrp="1"/>
          </p:cNvSpPr>
          <p:nvPr>
            <p:ph type="title" idx="3"/>
          </p:nvPr>
        </p:nvSpPr>
        <p:spPr>
          <a:xfrm>
            <a:off x="4874305" y="3787125"/>
            <a:ext cx="868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+mn-lt"/>
              </a:rPr>
              <a:t>06</a:t>
            </a:r>
            <a:endParaRPr>
              <a:latin typeface="+mn-lt"/>
            </a:endParaRPr>
          </a:p>
        </p:txBody>
      </p:sp>
      <p:sp>
        <p:nvSpPr>
          <p:cNvPr id="287" name="Google Shape;287;p32"/>
          <p:cNvSpPr txBox="1">
            <a:spLocks noGrp="1"/>
          </p:cNvSpPr>
          <p:nvPr>
            <p:ph type="title" idx="18"/>
          </p:nvPr>
        </p:nvSpPr>
        <p:spPr>
          <a:xfrm rot="2376">
            <a:off x="4874289" y="1451380"/>
            <a:ext cx="868200" cy="5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n-lt"/>
              </a:rPr>
              <a:t>04</a:t>
            </a:r>
            <a:endParaRPr dirty="0">
              <a:latin typeface="+mn-lt"/>
            </a:endParaRPr>
          </a:p>
        </p:txBody>
      </p:sp>
      <p:pic>
        <p:nvPicPr>
          <p:cNvPr id="288" name="Google Shape;28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9575" y="-863810"/>
            <a:ext cx="2023799" cy="2025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11102" y="293247"/>
            <a:ext cx="868201" cy="86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"/>
          <p:cNvSpPr txBox="1">
            <a:spLocks noGrp="1"/>
          </p:cNvSpPr>
          <p:nvPr>
            <p:ph type="title"/>
          </p:nvPr>
        </p:nvSpPr>
        <p:spPr>
          <a:xfrm>
            <a:off x="2473200" y="1377850"/>
            <a:ext cx="4197600" cy="100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accent1"/>
                </a:solidFill>
                <a:latin typeface="+mn-lt"/>
              </a:rPr>
              <a:t>1. Introduction</a:t>
            </a:r>
            <a:endParaRPr dirty="0">
              <a:solidFill>
                <a:schemeClr val="accent1"/>
              </a:solidFill>
              <a:latin typeface="+mn-lt"/>
            </a:endParaRPr>
          </a:p>
        </p:txBody>
      </p:sp>
      <p:cxnSp>
        <p:nvCxnSpPr>
          <p:cNvPr id="296" name="Google Shape;296;p33"/>
          <p:cNvCxnSpPr/>
          <p:nvPr/>
        </p:nvCxnSpPr>
        <p:spPr>
          <a:xfrm>
            <a:off x="3100350" y="2454025"/>
            <a:ext cx="2943300" cy="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01140" y="368550"/>
            <a:ext cx="4848950" cy="564300"/>
          </a:xfrm>
        </p:spPr>
        <p:txBody>
          <a:bodyPr/>
          <a:lstStyle/>
          <a:p>
            <a:r>
              <a:rPr lang="en-US" dirty="0">
                <a:latin typeface="+mj-lt"/>
              </a:rPr>
              <a:t>Background</a:t>
            </a:r>
          </a:p>
        </p:txBody>
      </p:sp>
      <p:sp>
        <p:nvSpPr>
          <p:cNvPr id="7" name="Subtitle 3"/>
          <p:cNvSpPr txBox="1">
            <a:spLocks/>
          </p:cNvSpPr>
          <p:nvPr/>
        </p:nvSpPr>
        <p:spPr>
          <a:xfrm rot="777">
            <a:off x="942120" y="882904"/>
            <a:ext cx="7319290" cy="3806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139700" indent="0" algn="l">
              <a:spcAft>
                <a:spcPts val="1800"/>
              </a:spcAft>
            </a:pPr>
            <a:r>
              <a:rPr lang="en-US" sz="1800" dirty="0" smtClean="0">
                <a:latin typeface="+mn-lt"/>
              </a:rPr>
              <a:t>- </a:t>
            </a:r>
            <a:r>
              <a:rPr lang="en-US" sz="1900" dirty="0" smtClean="0">
                <a:latin typeface="+mn-lt"/>
              </a:rPr>
              <a:t>Social media</a:t>
            </a:r>
          </a:p>
          <a:p>
            <a:pPr marL="139700" indent="0" algn="l">
              <a:spcAft>
                <a:spcPts val="1000"/>
              </a:spcAft>
            </a:pPr>
            <a:r>
              <a:rPr lang="en-US" sz="1800" dirty="0" smtClean="0">
                <a:latin typeface="+mn-lt"/>
              </a:rPr>
              <a:t>- </a:t>
            </a:r>
            <a:r>
              <a:rPr lang="en-US" sz="1900" dirty="0" smtClean="0">
                <a:latin typeface="+mn-lt"/>
              </a:rPr>
              <a:t>Social media marketing</a:t>
            </a:r>
          </a:p>
          <a:p>
            <a:pPr marL="139700" indent="0" algn="l">
              <a:spcAft>
                <a:spcPts val="1800"/>
              </a:spcAft>
            </a:pP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+mj-lt"/>
              </a:rPr>
              <a:t>Tuten</a:t>
            </a:r>
            <a:r>
              <a:rPr lang="en-US" dirty="0">
                <a:latin typeface="+mj-lt"/>
              </a:rPr>
              <a:t> and </a:t>
            </a:r>
            <a:r>
              <a:rPr lang="en-US" dirty="0" smtClean="0">
                <a:latin typeface="+mj-lt"/>
              </a:rPr>
              <a:t>Solomon, 2018; Yu </a:t>
            </a:r>
            <a:r>
              <a:rPr lang="en-US" dirty="0">
                <a:latin typeface="+mj-lt"/>
              </a:rPr>
              <a:t>et al., 2018). </a:t>
            </a:r>
            <a:endParaRPr lang="en-US" dirty="0" smtClean="0">
              <a:latin typeface="+mj-lt"/>
            </a:endParaRPr>
          </a:p>
          <a:p>
            <a:pPr marL="139700" indent="0" algn="l">
              <a:spcAft>
                <a:spcPts val="1000"/>
              </a:spcAft>
            </a:pPr>
            <a:r>
              <a:rPr lang="en-US" sz="1800" dirty="0" smtClean="0">
                <a:latin typeface="+mn-lt"/>
              </a:rPr>
              <a:t>- </a:t>
            </a:r>
            <a:r>
              <a:rPr lang="en-US" sz="1900" dirty="0" smtClean="0">
                <a:latin typeface="+mn-lt"/>
              </a:rPr>
              <a:t>Purchase intention</a:t>
            </a:r>
          </a:p>
          <a:p>
            <a:pPr marL="139700" indent="0" algn="l">
              <a:spcAft>
                <a:spcPts val="1800"/>
              </a:spcAft>
            </a:pPr>
            <a:r>
              <a:rPr lang="en-US" dirty="0" smtClean="0">
                <a:latin typeface="+mj-lt"/>
              </a:rPr>
              <a:t>(</a:t>
            </a:r>
            <a:r>
              <a:rPr lang="en-US" dirty="0" err="1" smtClean="0">
                <a:latin typeface="+mj-lt"/>
              </a:rPr>
              <a:t>Kudeshia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and Kumar, </a:t>
            </a:r>
            <a:r>
              <a:rPr lang="en-US" dirty="0" smtClean="0">
                <a:latin typeface="+mj-lt"/>
              </a:rPr>
              <a:t>2017)</a:t>
            </a:r>
            <a:endParaRPr lang="en-US" sz="1800" dirty="0" smtClean="0">
              <a:latin typeface="+mj-lt"/>
            </a:endParaRPr>
          </a:p>
          <a:p>
            <a:pPr marL="139700" indent="0" algn="l">
              <a:spcAft>
                <a:spcPts val="1800"/>
              </a:spcAft>
            </a:pPr>
            <a:r>
              <a:rPr lang="en-US" sz="1900" dirty="0" smtClean="0">
                <a:latin typeface="+mn-lt"/>
              </a:rPr>
              <a:t>- </a:t>
            </a:r>
            <a:r>
              <a:rPr lang="en-US" sz="1900" dirty="0" err="1" smtClean="0">
                <a:latin typeface="+mn-lt"/>
              </a:rPr>
              <a:t>Blueseed</a:t>
            </a:r>
            <a:r>
              <a:rPr lang="en-US" sz="1900" dirty="0" smtClean="0">
                <a:latin typeface="+mn-lt"/>
              </a:rPr>
              <a:t> Digital company</a:t>
            </a:r>
            <a:endParaRPr lang="en-US" sz="1900" dirty="0"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93986" y="2127226"/>
            <a:ext cx="3173268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/>
              <a:t>Facebook had 75.6 million active users in Viet Nam </a:t>
            </a:r>
            <a:r>
              <a:rPr lang="en-US" sz="1300" dirty="0"/>
              <a:t>(Ministry of Information and Communication of the Socialist Republic of Viet Nam, 2022). </a:t>
            </a:r>
          </a:p>
          <a:p>
            <a:endParaRPr lang="en-US" sz="1800" b="1" dirty="0" smtClean="0"/>
          </a:p>
          <a:p>
            <a:endParaRPr lang="en-US" dirty="0"/>
          </a:p>
        </p:txBody>
      </p:sp>
      <p:pic>
        <p:nvPicPr>
          <p:cNvPr id="9" name="Picture 8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06" b="33632"/>
          <a:stretch/>
        </p:blipFill>
        <p:spPr bwMode="auto">
          <a:xfrm>
            <a:off x="4661478" y="1941130"/>
            <a:ext cx="3737279" cy="14116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0499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latin typeface="+mj-lt"/>
              </a:rPr>
              <a:t>Problem statement</a:t>
            </a:r>
            <a:endParaRPr dirty="0">
              <a:latin typeface="+mj-lt"/>
            </a:endParaRPr>
          </a:p>
        </p:txBody>
      </p:sp>
      <p:sp>
        <p:nvSpPr>
          <p:cNvPr id="316" name="Google Shape;316;p35"/>
          <p:cNvSpPr txBox="1">
            <a:spLocks noGrp="1"/>
          </p:cNvSpPr>
          <p:nvPr>
            <p:ph type="subTitle" idx="4"/>
          </p:nvPr>
        </p:nvSpPr>
        <p:spPr>
          <a:xfrm>
            <a:off x="444700" y="647950"/>
            <a:ext cx="6883200" cy="358775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just">
              <a:buFontTx/>
              <a:buChar char="-"/>
            </a:pPr>
            <a:r>
              <a:rPr lang="en-US" sz="1800" dirty="0" smtClean="0">
                <a:latin typeface="+mj-lt"/>
              </a:rPr>
              <a:t>The support </a:t>
            </a:r>
            <a:r>
              <a:rPr lang="en-US" sz="1800" dirty="0">
                <a:latin typeface="+mj-lt"/>
              </a:rPr>
              <a:t>of </a:t>
            </a:r>
            <a:r>
              <a:rPr lang="en-US" sz="1800" dirty="0" err="1" smtClean="0">
                <a:latin typeface="+mj-lt"/>
              </a:rPr>
              <a:t>Blueseed</a:t>
            </a:r>
            <a:r>
              <a:rPr lang="en-US" sz="1800" dirty="0" smtClean="0">
                <a:latin typeface="+mj-lt"/>
              </a:rPr>
              <a:t> Digital company in social media marketing was </a:t>
            </a:r>
            <a:r>
              <a:rPr lang="en-US" sz="1800" dirty="0">
                <a:latin typeface="+mj-lt"/>
              </a:rPr>
              <a:t>no longer as effective for the clients as it used to be in the past.</a:t>
            </a:r>
            <a:endParaRPr lang="en-US" sz="1800" dirty="0" smtClean="0">
              <a:latin typeface="+mj-lt"/>
            </a:endParaRPr>
          </a:p>
          <a:p>
            <a:pPr marL="285750" lvl="0" indent="-285750" algn="just">
              <a:buFontTx/>
              <a:buChar char="-"/>
            </a:pPr>
            <a:endParaRPr lang="en-US" sz="1800" dirty="0">
              <a:latin typeface="+mj-lt"/>
            </a:endParaRPr>
          </a:p>
          <a:p>
            <a:pPr marL="285750" lvl="0" indent="-285750" algn="just">
              <a:buFontTx/>
              <a:buChar char="-"/>
            </a:pPr>
            <a:r>
              <a:rPr lang="en-US" sz="1800" dirty="0" smtClean="0">
                <a:latin typeface="+mj-lt"/>
              </a:rPr>
              <a:t>Previous </a:t>
            </a:r>
            <a:r>
              <a:rPr lang="en-US" sz="1800" dirty="0">
                <a:latin typeface="+mj-lt"/>
              </a:rPr>
              <a:t>studies used quantitative methods </a:t>
            </a:r>
            <a:r>
              <a:rPr lang="en-US" sz="1800" dirty="0" smtClean="0">
                <a:latin typeface="+mj-lt"/>
              </a:rPr>
              <a:t>and </a:t>
            </a:r>
            <a:r>
              <a:rPr lang="en-US" sz="1800" dirty="0">
                <a:latin typeface="+mj-lt"/>
              </a:rPr>
              <a:t>lack of qualitative </a:t>
            </a:r>
            <a:r>
              <a:rPr lang="en-US" sz="1800" dirty="0" smtClean="0">
                <a:latin typeface="+mj-lt"/>
              </a:rPr>
              <a:t>research </a:t>
            </a:r>
            <a:r>
              <a:rPr lang="en-US" dirty="0" smtClean="0">
                <a:latin typeface="+mj-lt"/>
              </a:rPr>
              <a:t>(Kim </a:t>
            </a:r>
            <a:r>
              <a:rPr lang="en-US" dirty="0">
                <a:latin typeface="+mj-lt"/>
              </a:rPr>
              <a:t>and </a:t>
            </a:r>
            <a:r>
              <a:rPr lang="en-US" dirty="0" err="1">
                <a:latin typeface="+mj-lt"/>
              </a:rPr>
              <a:t>Ko</a:t>
            </a:r>
            <a:r>
              <a:rPr lang="en-US" dirty="0">
                <a:latin typeface="+mj-lt"/>
              </a:rPr>
              <a:t>, 2010; </a:t>
            </a:r>
            <a:r>
              <a:rPr lang="en-US" dirty="0" err="1">
                <a:latin typeface="+mj-lt"/>
              </a:rPr>
              <a:t>Balakrishnan</a:t>
            </a:r>
            <a:r>
              <a:rPr lang="en-US" dirty="0">
                <a:latin typeface="+mj-lt"/>
              </a:rPr>
              <a:t> et al., 2014; Mai and Tran, 2016; </a:t>
            </a:r>
            <a:r>
              <a:rPr lang="en-US" dirty="0" err="1">
                <a:latin typeface="+mj-lt"/>
              </a:rPr>
              <a:t>Gautam</a:t>
            </a:r>
            <a:r>
              <a:rPr lang="en-US" dirty="0">
                <a:latin typeface="+mj-lt"/>
              </a:rPr>
              <a:t> and Sharma, 2017; </a:t>
            </a:r>
            <a:r>
              <a:rPr lang="en-US" dirty="0" err="1">
                <a:latin typeface="+mj-lt"/>
              </a:rPr>
              <a:t>Laksamana</a:t>
            </a:r>
            <a:r>
              <a:rPr lang="en-US" dirty="0">
                <a:latin typeface="+mj-lt"/>
              </a:rPr>
              <a:t>, 2018; </a:t>
            </a:r>
            <a:r>
              <a:rPr lang="en-US" dirty="0" err="1">
                <a:latin typeface="+mj-lt"/>
              </a:rPr>
              <a:t>Almohaimmeed</a:t>
            </a:r>
            <a:r>
              <a:rPr lang="en-US" dirty="0">
                <a:latin typeface="+mj-lt"/>
              </a:rPr>
              <a:t>, 2019</a:t>
            </a:r>
            <a:r>
              <a:rPr lang="en-US" dirty="0" smtClean="0">
                <a:latin typeface="+mj-lt"/>
              </a:rPr>
              <a:t>).</a:t>
            </a:r>
            <a:endParaRPr dirty="0">
              <a:latin typeface="+mj-lt"/>
            </a:endParaRPr>
          </a:p>
        </p:txBody>
      </p:sp>
      <p:pic>
        <p:nvPicPr>
          <p:cNvPr id="321" name="Google Shape;3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4623" y="-955651"/>
            <a:ext cx="2482811" cy="2482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7"/>
          <p:cNvSpPr txBox="1">
            <a:spLocks noGrp="1"/>
          </p:cNvSpPr>
          <p:nvPr>
            <p:ph type="title"/>
          </p:nvPr>
        </p:nvSpPr>
        <p:spPr>
          <a:xfrm>
            <a:off x="716770" y="711153"/>
            <a:ext cx="7704000" cy="4373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 smtClean="0">
                <a:latin typeface="+mn-lt"/>
              </a:rPr>
              <a:t>Purpose of the study</a:t>
            </a:r>
            <a:endParaRPr sz="2400" dirty="0">
              <a:latin typeface="+mn-lt"/>
            </a:endParaRPr>
          </a:p>
        </p:txBody>
      </p:sp>
      <p:sp>
        <p:nvSpPr>
          <p:cNvPr id="349" name="Google Shape;349;p37"/>
          <p:cNvSpPr txBox="1">
            <a:spLocks noGrp="1"/>
          </p:cNvSpPr>
          <p:nvPr>
            <p:ph type="subTitle" idx="4294967295"/>
          </p:nvPr>
        </p:nvSpPr>
        <p:spPr>
          <a:xfrm>
            <a:off x="1046486" y="1440872"/>
            <a:ext cx="7875841" cy="25667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 algn="just">
              <a:spcAft>
                <a:spcPts val="600"/>
              </a:spcAft>
              <a:buNone/>
            </a:pPr>
            <a:r>
              <a:rPr lang="en-US" sz="1700" dirty="0" smtClean="0">
                <a:latin typeface="+mj-lt"/>
              </a:rPr>
              <a:t>This </a:t>
            </a:r>
            <a:r>
              <a:rPr lang="en-US" sz="1700" dirty="0">
                <a:latin typeface="+mj-lt"/>
              </a:rPr>
              <a:t>research aims to investigate the influence of social media marketing on purchase intention of customers in Viet Nam to help firm have </a:t>
            </a:r>
            <a:r>
              <a:rPr lang="en-US" sz="1700" dirty="0" smtClean="0">
                <a:latin typeface="+mj-lt"/>
              </a:rPr>
              <a:t>in-depth understanding </a:t>
            </a:r>
            <a:r>
              <a:rPr lang="en-US" sz="1700" dirty="0">
                <a:latin typeface="+mj-lt"/>
              </a:rPr>
              <a:t>and improve the quality of social media marketing plans</a:t>
            </a:r>
            <a:r>
              <a:rPr lang="en-US" sz="1700" dirty="0" smtClean="0">
                <a:latin typeface="+mj-lt"/>
              </a:rPr>
              <a:t>.</a:t>
            </a:r>
          </a:p>
          <a:p>
            <a:pPr lvl="0">
              <a:spcAft>
                <a:spcPts val="500"/>
              </a:spcAft>
            </a:pPr>
            <a:r>
              <a:rPr lang="en-US" sz="1700" dirty="0">
                <a:latin typeface="+mj-lt"/>
              </a:rPr>
              <a:t>To explore the factors of social media marketing that affects purchase intention of customers.</a:t>
            </a:r>
          </a:p>
          <a:p>
            <a:pPr lvl="0">
              <a:spcAft>
                <a:spcPts val="500"/>
              </a:spcAft>
            </a:pPr>
            <a:r>
              <a:rPr lang="en-US" sz="1700" dirty="0">
                <a:latin typeface="+mj-lt"/>
              </a:rPr>
              <a:t>To evaluate the impact of social media marketing on purchase intention.</a:t>
            </a:r>
          </a:p>
          <a:p>
            <a:pPr lvl="0">
              <a:spcAft>
                <a:spcPts val="500"/>
              </a:spcAft>
            </a:pPr>
            <a:r>
              <a:rPr lang="en-US" sz="1700" dirty="0">
                <a:latin typeface="+mj-lt"/>
              </a:rPr>
              <a:t>To propose recommendations for improving social media marketing of </a:t>
            </a:r>
            <a:r>
              <a:rPr lang="en-US" sz="1700" dirty="0" err="1">
                <a:latin typeface="+mj-lt"/>
              </a:rPr>
              <a:t>Blueseed</a:t>
            </a:r>
            <a:r>
              <a:rPr lang="en-US" sz="1700" dirty="0">
                <a:latin typeface="+mj-lt"/>
              </a:rPr>
              <a:t> Digital company</a:t>
            </a:r>
          </a:p>
          <a:p>
            <a:pPr marL="139700" indent="0" algn="just">
              <a:spcAft>
                <a:spcPts val="600"/>
              </a:spcAft>
              <a:buNone/>
            </a:pPr>
            <a:r>
              <a:rPr lang="en-US" sz="1700" dirty="0" smtClean="0">
                <a:latin typeface="+mj-lt"/>
              </a:rPr>
              <a:t> </a:t>
            </a:r>
            <a:endParaRPr lang="en-US" sz="17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j-lt"/>
              </a:rPr>
              <a:t>2. Literature </a:t>
            </a:r>
            <a:r>
              <a:rPr lang="en" dirty="0">
                <a:latin typeface="+mj-lt"/>
              </a:rPr>
              <a:t>review</a:t>
            </a:r>
            <a:endParaRPr dirty="0">
              <a:latin typeface="+mj-lt"/>
            </a:endParaRPr>
          </a:p>
        </p:txBody>
      </p:sp>
      <p:sp>
        <p:nvSpPr>
          <p:cNvPr id="441" name="Google Shape;441;p40"/>
          <p:cNvSpPr txBox="1">
            <a:spLocks noGrp="1"/>
          </p:cNvSpPr>
          <p:nvPr>
            <p:ph type="subTitle" idx="1"/>
          </p:nvPr>
        </p:nvSpPr>
        <p:spPr>
          <a:xfrm rot="-402">
            <a:off x="629944" y="893591"/>
            <a:ext cx="6359673" cy="33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lvl="0" indent="0" algn="just">
              <a:buNone/>
            </a:pPr>
            <a:r>
              <a:rPr lang="en-US" sz="2000" dirty="0" smtClean="0">
                <a:latin typeface="+mj-lt"/>
              </a:rPr>
              <a:t>Many </a:t>
            </a:r>
            <a:r>
              <a:rPr lang="en-US" sz="2000" dirty="0">
                <a:latin typeface="+mj-lt"/>
              </a:rPr>
              <a:t>studies about the influence of social media marketing on purchase intention were conducted </a:t>
            </a:r>
            <a:r>
              <a:rPr lang="en-US" sz="2000" dirty="0" smtClean="0">
                <a:latin typeface="+mj-lt"/>
              </a:rPr>
              <a:t>in </a:t>
            </a:r>
            <a:r>
              <a:rPr lang="en-US" sz="2000" dirty="0">
                <a:latin typeface="+mj-lt"/>
              </a:rPr>
              <a:t>different countries but rare in Viet </a:t>
            </a:r>
            <a:r>
              <a:rPr lang="en-US" sz="2000" dirty="0" smtClean="0">
                <a:latin typeface="+mj-lt"/>
              </a:rPr>
              <a:t>Nam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smtClean="0">
                <a:latin typeface="+mj-lt"/>
              </a:rPr>
              <a:t>and were lack of qualitative research </a:t>
            </a:r>
            <a:r>
              <a:rPr lang="en-US" sz="1500" dirty="0">
                <a:latin typeface="+mj-lt"/>
              </a:rPr>
              <a:t>(Kim and </a:t>
            </a:r>
            <a:r>
              <a:rPr lang="en-US" sz="1500" dirty="0" err="1">
                <a:latin typeface="+mj-lt"/>
              </a:rPr>
              <a:t>Ko</a:t>
            </a:r>
            <a:r>
              <a:rPr lang="en-US" sz="1500" dirty="0">
                <a:latin typeface="+mj-lt"/>
              </a:rPr>
              <a:t>, 2010; </a:t>
            </a:r>
            <a:r>
              <a:rPr lang="en-US" sz="1500" dirty="0" err="1">
                <a:latin typeface="+mj-lt"/>
              </a:rPr>
              <a:t>Balakrishnan</a:t>
            </a:r>
            <a:r>
              <a:rPr lang="en-US" sz="1500" dirty="0">
                <a:latin typeface="+mj-lt"/>
              </a:rPr>
              <a:t> et al., 2014</a:t>
            </a:r>
            <a:r>
              <a:rPr lang="en-US" sz="1500" dirty="0" smtClean="0">
                <a:latin typeface="+mj-lt"/>
              </a:rPr>
              <a:t>; Mai and Tran, 2016; </a:t>
            </a:r>
            <a:r>
              <a:rPr lang="en-US" sz="1500" dirty="0" err="1">
                <a:latin typeface="+mj-lt"/>
              </a:rPr>
              <a:t>Gautam</a:t>
            </a:r>
            <a:r>
              <a:rPr lang="en-US" sz="1500" dirty="0">
                <a:latin typeface="+mj-lt"/>
              </a:rPr>
              <a:t> and Sharma, 2017; </a:t>
            </a:r>
            <a:r>
              <a:rPr lang="en-US" sz="1500" dirty="0" err="1">
                <a:latin typeface="+mj-lt"/>
              </a:rPr>
              <a:t>Laksamana</a:t>
            </a:r>
            <a:r>
              <a:rPr lang="en-US" sz="1500" dirty="0">
                <a:latin typeface="+mj-lt"/>
              </a:rPr>
              <a:t>, 2018; </a:t>
            </a:r>
            <a:r>
              <a:rPr lang="en-US" sz="1500" dirty="0" err="1">
                <a:latin typeface="+mj-lt"/>
              </a:rPr>
              <a:t>Almohaimmeed</a:t>
            </a:r>
            <a:r>
              <a:rPr lang="en-US" sz="1500" dirty="0">
                <a:latin typeface="+mj-lt"/>
              </a:rPr>
              <a:t>, 2019)</a:t>
            </a:r>
            <a:endParaRPr sz="15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6" name="Google Shape;446;p41"/>
          <p:cNvCxnSpPr/>
          <p:nvPr/>
        </p:nvCxnSpPr>
        <p:spPr>
          <a:xfrm flipH="1">
            <a:off x="6943800" y="284900"/>
            <a:ext cx="1480200" cy="10581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0" name="Google Shape;450;p4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Theory of Planned Behavior</a:t>
            </a:r>
            <a:endParaRPr dirty="0">
              <a:latin typeface="+mj-lt"/>
            </a:endParaRPr>
          </a:p>
        </p:txBody>
      </p:sp>
      <p:sp>
        <p:nvSpPr>
          <p:cNvPr id="456" name="Google Shape;456;p41"/>
          <p:cNvSpPr txBox="1">
            <a:spLocks noGrp="1"/>
          </p:cNvSpPr>
          <p:nvPr>
            <p:ph type="subTitle" idx="4294967295"/>
          </p:nvPr>
        </p:nvSpPr>
        <p:spPr>
          <a:xfrm>
            <a:off x="665018" y="3944808"/>
            <a:ext cx="5153891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latin typeface="+mj-lt"/>
              </a:rPr>
              <a:t>Figure 1: Theory of Planned Behavior (</a:t>
            </a:r>
            <a:r>
              <a:rPr lang="en-US" dirty="0" err="1">
                <a:latin typeface="+mj-lt"/>
              </a:rPr>
              <a:t>Ajzen</a:t>
            </a:r>
            <a:r>
              <a:rPr lang="en-US" dirty="0">
                <a:latin typeface="+mj-lt"/>
              </a:rPr>
              <a:t>, 1991)</a:t>
            </a:r>
            <a:endParaRPr dirty="0">
              <a:latin typeface="+mj-lt"/>
            </a:endParaRPr>
          </a:p>
        </p:txBody>
      </p:sp>
      <p:pic>
        <p:nvPicPr>
          <p:cNvPr id="469" name="Google Shape;46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2938" y="-1086700"/>
            <a:ext cx="2480996" cy="248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2495" y="736477"/>
            <a:ext cx="961748" cy="961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/>
          <p:cNvPicPr/>
          <p:nvPr/>
        </p:nvPicPr>
        <p:blipFill>
          <a:blip r:embed="rId5"/>
          <a:stretch>
            <a:fillRect/>
          </a:stretch>
        </p:blipFill>
        <p:spPr>
          <a:xfrm>
            <a:off x="559713" y="1211562"/>
            <a:ext cx="5120650" cy="2889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61109" y="332182"/>
            <a:ext cx="7704000" cy="564300"/>
          </a:xfrm>
        </p:spPr>
        <p:txBody>
          <a:bodyPr/>
          <a:lstStyle/>
          <a:p>
            <a:r>
              <a:rPr lang="en-US" dirty="0">
                <a:latin typeface="+mj-lt"/>
              </a:rPr>
              <a:t>Empirical studies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582898"/>
              </p:ext>
            </p:extLst>
          </p:nvPr>
        </p:nvGraphicFramePr>
        <p:xfrm>
          <a:off x="561109" y="1019000"/>
          <a:ext cx="8042565" cy="379374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680855">
                  <a:extLst>
                    <a:ext uri="{9D8B030D-6E8A-4147-A177-3AD203B41FA5}">
                      <a16:colId xmlns:a16="http://schemas.microsoft.com/office/drawing/2014/main" val="293411979"/>
                    </a:ext>
                  </a:extLst>
                </a:gridCol>
                <a:gridCol w="2680855">
                  <a:extLst>
                    <a:ext uri="{9D8B030D-6E8A-4147-A177-3AD203B41FA5}">
                      <a16:colId xmlns:a16="http://schemas.microsoft.com/office/drawing/2014/main" val="2471519224"/>
                    </a:ext>
                  </a:extLst>
                </a:gridCol>
                <a:gridCol w="2680855">
                  <a:extLst>
                    <a:ext uri="{9D8B030D-6E8A-4147-A177-3AD203B41FA5}">
                      <a16:colId xmlns:a16="http://schemas.microsoft.com/office/drawing/2014/main" val="4189700106"/>
                    </a:ext>
                  </a:extLst>
                </a:gridCol>
              </a:tblGrid>
              <a:tr h="754677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u="none" strike="noStrike" cap="none" dirty="0" smtClean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Kim and </a:t>
                      </a:r>
                      <a:r>
                        <a:rPr lang="en-US" sz="1500" b="1" i="0" u="none" strike="noStrike" cap="none" dirty="0" err="1" smtClean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Ko</a:t>
                      </a:r>
                      <a:r>
                        <a:rPr lang="en-US" sz="1500" b="1" i="0" u="none" strike="noStrike" cap="none" dirty="0" smtClean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(2010)</a:t>
                      </a:r>
                      <a:endParaRPr lang="en-US" sz="1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u="none" strike="noStrike" cap="none" dirty="0" smtClean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Mai and Tran (2016)</a:t>
                      </a:r>
                      <a:endParaRPr lang="en-US" sz="1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 u="none" strike="noStrike" cap="none" dirty="0" err="1" smtClean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Almohaimmeed</a:t>
                      </a:r>
                      <a:r>
                        <a:rPr lang="en-US" sz="1500" b="1" i="0" u="none" strike="noStrike" cap="none" dirty="0" smtClean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(2019)</a:t>
                      </a:r>
                      <a:endParaRPr lang="en-US" sz="1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809493"/>
                  </a:ext>
                </a:extLst>
              </a:tr>
              <a:tr h="53298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Quantitative</a:t>
                      </a:r>
                      <a:r>
                        <a:rPr lang="en-US" sz="1500" baseline="0" dirty="0" smtClean="0"/>
                        <a:t> research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Quantitative</a:t>
                      </a:r>
                      <a:r>
                        <a:rPr lang="en-US" sz="1500" baseline="0" dirty="0" smtClean="0"/>
                        <a:t> research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Quantitative research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062948"/>
                  </a:ext>
                </a:extLst>
              </a:tr>
              <a:tr h="979843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Measured by 5 factors (entertainment, customization, interaction, word of mouth, and trend)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Measured by 3 factors (online advertising, online communities, electronic word-of-mouth)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Measured by 3 factors (application types, social effects and enabling technologies)</a:t>
                      </a:r>
                      <a:endParaRPr lang="en-US" sz="15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207372"/>
                  </a:ext>
                </a:extLst>
              </a:tr>
              <a:tr h="1500242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It</a:t>
                      </a:r>
                      <a:r>
                        <a:rPr lang="en-US" sz="1500" b="0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was </a:t>
                      </a:r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initial effort and later expanded and developed in</a:t>
                      </a:r>
                      <a:r>
                        <a:rPr lang="en-US" sz="1500" b="0" i="0" u="none" strike="noStrike" cap="none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many studies</a:t>
                      </a:r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Same country and topic as this research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One of the newest studies in this topic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664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26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691" y="274092"/>
            <a:ext cx="3756900" cy="945900"/>
          </a:xfrm>
        </p:spPr>
        <p:txBody>
          <a:bodyPr/>
          <a:lstStyle/>
          <a:p>
            <a:r>
              <a:rPr lang="en" dirty="0">
                <a:latin typeface="+mj-lt"/>
              </a:rPr>
              <a:t>3. Methodology</a:t>
            </a:r>
            <a:endParaRPr lang="en-US" dirty="0"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-223">
            <a:off x="3158895" y="4487009"/>
            <a:ext cx="5750018" cy="545466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Figure </a:t>
            </a:r>
            <a:r>
              <a:rPr lang="en-US" dirty="0" smtClean="0"/>
              <a:t>2: </a:t>
            </a:r>
            <a:r>
              <a:rPr lang="en-US" dirty="0"/>
              <a:t>Research onion model (Saunders et al., 2007)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290495" y="274092"/>
            <a:ext cx="5327032" cy="399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1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4"/>
          <p:cNvSpPr txBox="1">
            <a:spLocks noGrp="1"/>
          </p:cNvSpPr>
          <p:nvPr>
            <p:ph type="title"/>
          </p:nvPr>
        </p:nvSpPr>
        <p:spPr>
          <a:xfrm>
            <a:off x="277650" y="69830"/>
            <a:ext cx="3756900" cy="94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j-lt"/>
              </a:rPr>
              <a:t>3. Methodology</a:t>
            </a:r>
            <a:endParaRPr dirty="0">
              <a:latin typeface="+mj-lt"/>
            </a:endParaRPr>
          </a:p>
        </p:txBody>
      </p:sp>
      <p:sp>
        <p:nvSpPr>
          <p:cNvPr id="747" name="Google Shape;747;p54"/>
          <p:cNvSpPr txBox="1">
            <a:spLocks noGrp="1"/>
          </p:cNvSpPr>
          <p:nvPr>
            <p:ph type="subTitle" idx="1"/>
          </p:nvPr>
        </p:nvSpPr>
        <p:spPr>
          <a:xfrm rot="-223">
            <a:off x="180803" y="846352"/>
            <a:ext cx="5748932" cy="41967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700"/>
              </a:spcAft>
              <a:buClr>
                <a:schemeClr val="dk1"/>
              </a:buClr>
              <a:buSzPts val="1100"/>
              <a:buNone/>
            </a:pPr>
            <a:r>
              <a:rPr lang="en-US" sz="2000" dirty="0" smtClean="0">
                <a:latin typeface="+mj-lt"/>
              </a:rPr>
              <a:t>- </a:t>
            </a:r>
            <a:r>
              <a:rPr lang="en-US" sz="2000" u="sng" dirty="0" smtClean="0">
                <a:latin typeface="+mj-lt"/>
              </a:rPr>
              <a:t>Research philosophy</a:t>
            </a:r>
            <a:r>
              <a:rPr lang="en-US" sz="2000" dirty="0" smtClean="0">
                <a:latin typeface="+mj-lt"/>
              </a:rPr>
              <a:t>: </a:t>
            </a:r>
            <a:r>
              <a:rPr lang="en-US" sz="2000" dirty="0" err="1">
                <a:latin typeface="+mj-lt"/>
              </a:rPr>
              <a:t>I</a:t>
            </a:r>
            <a:r>
              <a:rPr lang="en-US" sz="2000" dirty="0" err="1" smtClean="0">
                <a:latin typeface="+mj-lt"/>
              </a:rPr>
              <a:t>nterpretivism</a:t>
            </a:r>
            <a:r>
              <a:rPr lang="en-US" sz="2000" dirty="0" smtClean="0">
                <a:latin typeface="+mj-lt"/>
              </a:rPr>
              <a:t> </a:t>
            </a:r>
          </a:p>
          <a:p>
            <a:pPr marL="0" lvl="0" indent="0">
              <a:spcAft>
                <a:spcPts val="700"/>
              </a:spcAft>
              <a:buClr>
                <a:schemeClr val="dk1"/>
              </a:buClr>
              <a:buSzPts val="1100"/>
              <a:buNone/>
            </a:pPr>
            <a:r>
              <a:rPr lang="en-US" sz="2000" dirty="0" smtClean="0">
                <a:latin typeface="+mj-lt"/>
              </a:rPr>
              <a:t>- </a:t>
            </a:r>
            <a:r>
              <a:rPr lang="en-US" sz="2000" u="sng" dirty="0" smtClean="0">
                <a:latin typeface="+mj-lt"/>
              </a:rPr>
              <a:t>Research approach</a:t>
            </a:r>
            <a:r>
              <a:rPr lang="en-US" sz="2000" dirty="0" smtClean="0">
                <a:latin typeface="+mj-lt"/>
              </a:rPr>
              <a:t>: Inductive approach</a:t>
            </a:r>
          </a:p>
          <a:p>
            <a:pPr marL="0" lvl="0" indent="0">
              <a:spcAft>
                <a:spcPts val="700"/>
              </a:spcAft>
              <a:buClr>
                <a:schemeClr val="dk1"/>
              </a:buClr>
              <a:buSzPts val="1100"/>
              <a:buNone/>
            </a:pPr>
            <a:r>
              <a:rPr lang="en-US" sz="2000" dirty="0" smtClean="0">
                <a:latin typeface="+mj-lt"/>
              </a:rPr>
              <a:t>- </a:t>
            </a:r>
            <a:r>
              <a:rPr lang="en-US" sz="2000" u="sng" dirty="0" smtClean="0">
                <a:latin typeface="+mj-lt"/>
              </a:rPr>
              <a:t>Research strategy</a:t>
            </a:r>
            <a:r>
              <a:rPr lang="en-US" sz="2000" dirty="0" smtClean="0">
                <a:latin typeface="+mj-lt"/>
              </a:rPr>
              <a:t>: Case study</a:t>
            </a:r>
          </a:p>
          <a:p>
            <a:pPr marL="0" lvl="0" indent="0">
              <a:spcAft>
                <a:spcPts val="700"/>
              </a:spcAft>
              <a:buClr>
                <a:schemeClr val="dk1"/>
              </a:buClr>
              <a:buSzPts val="1100"/>
              <a:buNone/>
            </a:pPr>
            <a:r>
              <a:rPr lang="en-US" sz="2000" dirty="0" smtClean="0">
                <a:latin typeface="+mj-lt"/>
              </a:rPr>
              <a:t>- </a:t>
            </a:r>
            <a:r>
              <a:rPr lang="en-US" sz="2000" u="sng" dirty="0" smtClean="0">
                <a:latin typeface="+mj-lt"/>
              </a:rPr>
              <a:t>Research choice</a:t>
            </a:r>
            <a:r>
              <a:rPr lang="en-US" sz="2000" dirty="0" smtClean="0">
                <a:latin typeface="+mj-lt"/>
              </a:rPr>
              <a:t>: </a:t>
            </a:r>
            <a:r>
              <a:rPr lang="en-US" sz="2000" dirty="0">
                <a:latin typeface="+mj-lt"/>
              </a:rPr>
              <a:t>Q</a:t>
            </a:r>
            <a:r>
              <a:rPr lang="en-US" sz="2000" dirty="0" smtClean="0">
                <a:latin typeface="+mj-lt"/>
              </a:rPr>
              <a:t>ualitative method</a:t>
            </a:r>
          </a:p>
          <a:p>
            <a:pPr marL="0" lvl="0" indent="0">
              <a:spcAft>
                <a:spcPts val="700"/>
              </a:spcAft>
              <a:buClr>
                <a:schemeClr val="dk1"/>
              </a:buClr>
              <a:buSzPts val="1100"/>
              <a:buNone/>
            </a:pPr>
            <a:r>
              <a:rPr lang="en-US" sz="2000" dirty="0" smtClean="0">
                <a:latin typeface="+mj-lt"/>
              </a:rPr>
              <a:t>- </a:t>
            </a:r>
            <a:r>
              <a:rPr lang="en-US" sz="2000" u="sng" dirty="0" smtClean="0">
                <a:latin typeface="+mj-lt"/>
              </a:rPr>
              <a:t>Time horizons</a:t>
            </a:r>
            <a:r>
              <a:rPr lang="en-US" sz="2000" dirty="0" smtClean="0">
                <a:latin typeface="+mj-lt"/>
              </a:rPr>
              <a:t>: Cross-sectional</a:t>
            </a:r>
          </a:p>
          <a:p>
            <a:pPr marL="0" lvl="0" indent="0">
              <a:spcAft>
                <a:spcPts val="700"/>
              </a:spcAft>
              <a:buClr>
                <a:schemeClr val="dk1"/>
              </a:buClr>
              <a:buSzPts val="1100"/>
              <a:buNone/>
            </a:pPr>
            <a:r>
              <a:rPr lang="en-US" sz="2000" dirty="0" smtClean="0">
                <a:latin typeface="+mj-lt"/>
              </a:rPr>
              <a:t>- </a:t>
            </a:r>
            <a:r>
              <a:rPr lang="en-US" sz="2000" u="sng" dirty="0" smtClean="0">
                <a:latin typeface="+mj-lt"/>
              </a:rPr>
              <a:t>Data </a:t>
            </a:r>
            <a:r>
              <a:rPr lang="en-US" sz="2000" u="sng" dirty="0">
                <a:latin typeface="+mj-lt"/>
              </a:rPr>
              <a:t>collection method</a:t>
            </a:r>
            <a:r>
              <a:rPr lang="en-US" sz="2000" dirty="0">
                <a:latin typeface="+mj-lt"/>
              </a:rPr>
              <a:t>: non-probability purposive sampling through semi-structured interview</a:t>
            </a:r>
          </a:p>
          <a:p>
            <a:pPr marL="0" lvl="0" indent="0">
              <a:spcAft>
                <a:spcPts val="700"/>
              </a:spcAft>
              <a:buClr>
                <a:schemeClr val="dk1"/>
              </a:buClr>
              <a:buSzPts val="1100"/>
              <a:buNone/>
            </a:pPr>
            <a:r>
              <a:rPr lang="en-US" sz="2000" dirty="0" smtClean="0">
                <a:latin typeface="+mj-lt"/>
              </a:rPr>
              <a:t>- </a:t>
            </a:r>
            <a:r>
              <a:rPr lang="en-US" sz="2000" u="sng" dirty="0" smtClean="0">
                <a:latin typeface="+mj-lt"/>
              </a:rPr>
              <a:t>Sample </a:t>
            </a:r>
            <a:r>
              <a:rPr lang="en-US" sz="2000" u="sng" dirty="0">
                <a:latin typeface="+mj-lt"/>
              </a:rPr>
              <a:t>size</a:t>
            </a:r>
            <a:r>
              <a:rPr lang="en-US" sz="2000" dirty="0">
                <a:latin typeface="+mj-lt"/>
              </a:rPr>
              <a:t>: 6 participants </a:t>
            </a:r>
          </a:p>
          <a:p>
            <a:pPr marL="0" lvl="0" indent="0">
              <a:spcAft>
                <a:spcPts val="700"/>
              </a:spcAft>
              <a:buClr>
                <a:schemeClr val="dk1"/>
              </a:buClr>
              <a:buSzPts val="1100"/>
              <a:buNone/>
            </a:pPr>
            <a:r>
              <a:rPr lang="en-US" sz="2000" dirty="0" smtClean="0">
                <a:latin typeface="+mj-lt"/>
              </a:rPr>
              <a:t>- </a:t>
            </a:r>
            <a:r>
              <a:rPr lang="en-US" sz="2000" u="sng" dirty="0" smtClean="0">
                <a:latin typeface="+mj-lt"/>
              </a:rPr>
              <a:t>Data </a:t>
            </a:r>
            <a:r>
              <a:rPr lang="en-US" sz="2000" u="sng" dirty="0">
                <a:latin typeface="+mj-lt"/>
              </a:rPr>
              <a:t>analysis technique</a:t>
            </a:r>
            <a:r>
              <a:rPr lang="en-US" sz="2000" dirty="0">
                <a:latin typeface="+mj-lt"/>
              </a:rPr>
              <a:t>: thematic analysis </a:t>
            </a:r>
          </a:p>
          <a:p>
            <a:pPr marL="0" lvl="0" indent="0"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endParaRPr sz="2000" dirty="0">
              <a:latin typeface="+mj-lt"/>
            </a:endParaRPr>
          </a:p>
        </p:txBody>
      </p:sp>
      <p:pic>
        <p:nvPicPr>
          <p:cNvPr id="750" name="Google Shape;75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738" y="3519294"/>
            <a:ext cx="2480996" cy="248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48147" y="-466276"/>
            <a:ext cx="2209351" cy="2209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9426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470" y="99832"/>
            <a:ext cx="7704000" cy="564300"/>
          </a:xfrm>
        </p:spPr>
        <p:txBody>
          <a:bodyPr/>
          <a:lstStyle/>
          <a:p>
            <a:r>
              <a:rPr lang="en-US" dirty="0">
                <a:latin typeface="+mj-lt"/>
              </a:rPr>
              <a:t>4</a:t>
            </a:r>
            <a:r>
              <a:rPr lang="en-US" dirty="0" smtClean="0">
                <a:latin typeface="+mj-lt"/>
              </a:rPr>
              <a:t>. </a:t>
            </a:r>
            <a:r>
              <a:rPr lang="en-US" dirty="0" smtClean="0">
                <a:latin typeface="+mj-lt"/>
              </a:rPr>
              <a:t>Findings</a:t>
            </a:r>
            <a:endParaRPr lang="en-US" dirty="0">
              <a:latin typeface="+mj-lt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6"/>
          </p:nvPr>
        </p:nvSpPr>
        <p:spPr>
          <a:xfrm>
            <a:off x="1194445" y="244974"/>
            <a:ext cx="4563461" cy="1042500"/>
          </a:xfrm>
        </p:spPr>
        <p:txBody>
          <a:bodyPr/>
          <a:lstStyle/>
          <a:p>
            <a:r>
              <a:rPr lang="en-US" b="1" dirty="0" smtClean="0">
                <a:latin typeface="+mj-lt"/>
              </a:rPr>
              <a:t>Table 1: Demographic information </a:t>
            </a:r>
            <a:r>
              <a:rPr lang="en-US" b="1" dirty="0">
                <a:latin typeface="+mj-lt"/>
              </a:rPr>
              <a:t>of participants</a:t>
            </a:r>
            <a:endParaRPr lang="en-US" dirty="0">
              <a:latin typeface="+mj-lt"/>
            </a:endParaRPr>
          </a:p>
        </p:txBody>
      </p:sp>
      <p:cxnSp>
        <p:nvCxnSpPr>
          <p:cNvPr id="11" name="Google Shape;629;p50"/>
          <p:cNvCxnSpPr/>
          <p:nvPr/>
        </p:nvCxnSpPr>
        <p:spPr>
          <a:xfrm flipH="1">
            <a:off x="6054436" y="-16726"/>
            <a:ext cx="1583910" cy="5234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630;p50"/>
          <p:cNvCxnSpPr/>
          <p:nvPr/>
        </p:nvCxnSpPr>
        <p:spPr>
          <a:xfrm>
            <a:off x="7183105" y="-402926"/>
            <a:ext cx="2295600" cy="18192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Google Shape;63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0460" y="664132"/>
            <a:ext cx="1308499" cy="130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6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0242" y="-356414"/>
            <a:ext cx="1362299" cy="136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64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9618" y="-1373024"/>
            <a:ext cx="2482811" cy="24828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823926"/>
              </p:ext>
            </p:extLst>
          </p:nvPr>
        </p:nvGraphicFramePr>
        <p:xfrm>
          <a:off x="323394" y="962920"/>
          <a:ext cx="6779429" cy="3914023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1363916">
                  <a:extLst>
                    <a:ext uri="{9D8B030D-6E8A-4147-A177-3AD203B41FA5}">
                      <a16:colId xmlns:a16="http://schemas.microsoft.com/office/drawing/2014/main" val="2717679073"/>
                    </a:ext>
                  </a:extLst>
                </a:gridCol>
                <a:gridCol w="819506">
                  <a:extLst>
                    <a:ext uri="{9D8B030D-6E8A-4147-A177-3AD203B41FA5}">
                      <a16:colId xmlns:a16="http://schemas.microsoft.com/office/drawing/2014/main" val="722612241"/>
                    </a:ext>
                  </a:extLst>
                </a:gridCol>
                <a:gridCol w="1095247">
                  <a:extLst>
                    <a:ext uri="{9D8B030D-6E8A-4147-A177-3AD203B41FA5}">
                      <a16:colId xmlns:a16="http://schemas.microsoft.com/office/drawing/2014/main" val="3028317370"/>
                    </a:ext>
                  </a:extLst>
                </a:gridCol>
                <a:gridCol w="1731568">
                  <a:extLst>
                    <a:ext uri="{9D8B030D-6E8A-4147-A177-3AD203B41FA5}">
                      <a16:colId xmlns:a16="http://schemas.microsoft.com/office/drawing/2014/main" val="2381667351"/>
                    </a:ext>
                  </a:extLst>
                </a:gridCol>
                <a:gridCol w="1769192">
                  <a:extLst>
                    <a:ext uri="{9D8B030D-6E8A-4147-A177-3AD203B41FA5}">
                      <a16:colId xmlns:a16="http://schemas.microsoft.com/office/drawing/2014/main" val="2155381181"/>
                    </a:ext>
                  </a:extLst>
                </a:gridCol>
              </a:tblGrid>
              <a:tr h="74364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  <a:effectLst/>
                        </a:rPr>
                        <a:t>Order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by day of the interview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Age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Gender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</a:rPr>
                        <a:t>Job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From the point of </a:t>
                      </a:r>
                      <a:endParaRPr lang="en-US" sz="1200" dirty="0" smtClean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1"/>
                          </a:solidFill>
                          <a:effectLst/>
                        </a:rPr>
                        <a:t>view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of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2508391"/>
                  </a:ext>
                </a:extLst>
              </a:tr>
              <a:tr h="44501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23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Male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Coder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Consumer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920618"/>
                  </a:ext>
                </a:extLst>
              </a:tr>
              <a:tr h="71066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30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Female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Marketer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Expert in social media marketing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644899"/>
                  </a:ext>
                </a:extLst>
              </a:tr>
              <a:tr h="47846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32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Female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Sale managers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Manager level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716212"/>
                  </a:ext>
                </a:extLst>
              </a:tr>
              <a:tr h="71066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39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Male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Digital marketing agency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Expert in social media marketing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613774"/>
                  </a:ext>
                </a:extLst>
              </a:tr>
              <a:tr h="39866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34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Male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IT helpdesk manager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Manager level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513828"/>
                  </a:ext>
                </a:extLst>
              </a:tr>
              <a:tr h="38519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20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Female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Student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Consumer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447" marR="4844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308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20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72747" y="86250"/>
            <a:ext cx="7704000" cy="564300"/>
          </a:xfrm>
        </p:spPr>
        <p:txBody>
          <a:bodyPr/>
          <a:lstStyle/>
          <a:p>
            <a:r>
              <a:rPr lang="en-US" dirty="0" smtClean="0">
                <a:latin typeface="+mj-lt"/>
              </a:rPr>
              <a:t>Thematic analysis</a:t>
            </a:r>
            <a:endParaRPr lang="en-US" dirty="0">
              <a:latin typeface="+mj-lt"/>
            </a:endParaRPr>
          </a:p>
        </p:txBody>
      </p:sp>
      <p:pic>
        <p:nvPicPr>
          <p:cNvPr id="22" name="Google Shape;75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5583" y="3787070"/>
            <a:ext cx="2209351" cy="220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129146" y="712894"/>
            <a:ext cx="5915889" cy="4108487"/>
          </a:xfrm>
          <a:prstGeom prst="rect">
            <a:avLst/>
          </a:prstGeom>
        </p:spPr>
      </p:pic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 rot="-223">
            <a:off x="1149738" y="4674431"/>
            <a:ext cx="5750018" cy="545466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Figure 3</a:t>
            </a:r>
            <a:r>
              <a:rPr lang="en-US" dirty="0" smtClean="0"/>
              <a:t>: Thematic 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850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66709" y="354912"/>
            <a:ext cx="7704000" cy="564300"/>
          </a:xfrm>
        </p:spPr>
        <p:txBody>
          <a:bodyPr/>
          <a:lstStyle/>
          <a:p>
            <a:r>
              <a:rPr lang="en-US" dirty="0" smtClean="0">
                <a:latin typeface="+mj-lt"/>
              </a:rPr>
              <a:t>Thematic analysis</a:t>
            </a:r>
            <a:endParaRPr lang="en-US" dirty="0">
              <a:latin typeface="+mj-lt"/>
            </a:endParaRPr>
          </a:p>
        </p:txBody>
      </p:sp>
      <p:pic>
        <p:nvPicPr>
          <p:cNvPr id="22" name="Google Shape;75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5583" y="3787070"/>
            <a:ext cx="2209351" cy="22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Rectangle 22"/>
          <p:cNvSpPr/>
          <p:nvPr/>
        </p:nvSpPr>
        <p:spPr>
          <a:xfrm>
            <a:off x="62346" y="1207307"/>
            <a:ext cx="4980709" cy="2113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Theme 1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: Content </a:t>
            </a: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</a:rPr>
              <a:t>of the 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advertisement</a:t>
            </a:r>
          </a:p>
          <a:p>
            <a:pPr>
              <a:spcAft>
                <a:spcPts val="600"/>
              </a:spcAft>
            </a:pP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     </a:t>
            </a:r>
            <a:r>
              <a:rPr lang="en-US" sz="1800" u="sng" dirty="0" smtClean="0">
                <a:latin typeface="Arial" panose="020B0604020202020204" pitchFamily="34" charset="0"/>
                <a:ea typeface="Calibri" panose="020F0502020204030204" pitchFamily="34" charset="0"/>
              </a:rPr>
              <a:t>Subtheme 1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: Meaningful message</a:t>
            </a:r>
          </a:p>
          <a:p>
            <a:pPr>
              <a:spcAft>
                <a:spcPts val="600"/>
              </a:spcAft>
            </a:pP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      </a:t>
            </a:r>
            <a:r>
              <a:rPr lang="en-US" sz="1800" u="sng" dirty="0" smtClean="0">
                <a:latin typeface="Arial" panose="020B0604020202020204" pitchFamily="34" charset="0"/>
                <a:ea typeface="Calibri" panose="020F0502020204030204" pitchFamily="34" charset="0"/>
              </a:rPr>
              <a:t>Subtheme 2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: Entertainment </a:t>
            </a: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</a:rPr>
              <a:t>in 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advertising</a:t>
            </a:r>
          </a:p>
          <a:p>
            <a:pPr>
              <a:spcAft>
                <a:spcPts val="600"/>
              </a:spcAft>
            </a:pP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      </a:t>
            </a:r>
            <a:r>
              <a:rPr lang="en-US" sz="1800" u="sng" dirty="0" smtClean="0">
                <a:latin typeface="Arial" panose="020B0604020202020204" pitchFamily="34" charset="0"/>
                <a:ea typeface="Calibri" panose="020F0502020204030204" pitchFamily="34" charset="0"/>
              </a:rPr>
              <a:t>Subtheme 3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: Right </a:t>
            </a: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</a:rPr>
              <a:t>time for 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advertising</a:t>
            </a:r>
          </a:p>
          <a:p>
            <a:pPr>
              <a:spcAft>
                <a:spcPts val="400"/>
              </a:spcAft>
            </a:pPr>
            <a:endParaRPr lang="en-US" sz="18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400"/>
              </a:spcAft>
            </a:pPr>
            <a:endParaRPr lang="en-US" sz="1800" dirty="0" smtClean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Oval Callout 1"/>
          <p:cNvSpPr/>
          <p:nvPr/>
        </p:nvSpPr>
        <p:spPr>
          <a:xfrm>
            <a:off x="4917522" y="863151"/>
            <a:ext cx="4337596" cy="2784764"/>
          </a:xfrm>
          <a:prstGeom prst="wedgeEllipseCallout">
            <a:avLst/>
          </a:prstGeom>
          <a:solidFill>
            <a:srgbClr val="E8E8E8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It carries the meanings and touches my heart... I never want to buy anything just through advertising or marketing... I am quite strict for myself. However, it will be my first priority when looking for products. (IT helpdesk manager).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4791988" y="1499174"/>
            <a:ext cx="4337596" cy="2784764"/>
          </a:xfrm>
          <a:prstGeom prst="wedgeEllipseCallout">
            <a:avLst/>
          </a:prstGeom>
          <a:solidFill>
            <a:srgbClr val="E8E8E8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The color of the advertisement was vivid, colorful that really encouraged me to buy it. It looks yummy…the song has a catchy tune and upbeat tempo is comfortable to listen to. This makes me want to buy it </a:t>
            </a:r>
            <a:r>
              <a:rPr lang="en-US" sz="1500" dirty="0" smtClean="0"/>
              <a:t>more. (Coder)</a:t>
            </a:r>
            <a:endParaRPr lang="en-US" sz="1500" dirty="0"/>
          </a:p>
        </p:txBody>
      </p:sp>
      <p:sp>
        <p:nvSpPr>
          <p:cNvPr id="7" name="Oval Callout 6"/>
          <p:cNvSpPr/>
          <p:nvPr/>
        </p:nvSpPr>
        <p:spPr>
          <a:xfrm>
            <a:off x="4292662" y="2067479"/>
            <a:ext cx="4337596" cy="2784764"/>
          </a:xfrm>
          <a:prstGeom prst="wedgeEllipseCallout">
            <a:avLst/>
          </a:prstGeom>
          <a:solidFill>
            <a:srgbClr val="E8E8E8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Special days are like Black Friday, holidays, … These days, people go crazy shopping, and I am partly affected by them. But, I also will consider buying it for future usage, even if now, it is totally unnecessary. (Marketer) </a:t>
            </a:r>
          </a:p>
        </p:txBody>
      </p:sp>
    </p:spTree>
    <p:extLst>
      <p:ext uri="{BB962C8B-B14F-4D97-AF65-F5344CB8AC3E}">
        <p14:creationId xmlns:p14="http://schemas.microsoft.com/office/powerpoint/2010/main" val="149564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 animBg="1"/>
      <p:bldP spid="6" grpId="1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Thematic analysis</a:t>
            </a:r>
            <a:endParaRPr lang="en-US" dirty="0">
              <a:latin typeface="+mj-lt"/>
            </a:endParaRPr>
          </a:p>
        </p:txBody>
      </p:sp>
      <p:pic>
        <p:nvPicPr>
          <p:cNvPr id="22" name="Google Shape;75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5583" y="3787070"/>
            <a:ext cx="2209351" cy="22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Rectangle 22"/>
          <p:cNvSpPr/>
          <p:nvPr/>
        </p:nvSpPr>
        <p:spPr>
          <a:xfrm>
            <a:off x="311728" y="1394344"/>
            <a:ext cx="6532418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Theme 2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: Information </a:t>
            </a: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</a:rPr>
              <a:t>of the product in the 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advertisement</a:t>
            </a:r>
          </a:p>
          <a:p>
            <a:pPr>
              <a:spcAft>
                <a:spcPts val="400"/>
              </a:spcAft>
            </a:pPr>
            <a:endParaRPr lang="en-US" sz="18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400"/>
              </a:spcAft>
            </a:pPr>
            <a:endParaRPr lang="en-US" sz="1800" dirty="0" smtClean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Oval Callout 4"/>
          <p:cNvSpPr/>
          <p:nvPr/>
        </p:nvSpPr>
        <p:spPr>
          <a:xfrm>
            <a:off x="4470655" y="1991591"/>
            <a:ext cx="4337596" cy="2784764"/>
          </a:xfrm>
          <a:prstGeom prst="wedgeEllipseCallout">
            <a:avLst/>
          </a:prstGeom>
          <a:solidFill>
            <a:srgbClr val="E8E8E8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400"/>
              </a:spcAft>
            </a:pPr>
            <a:r>
              <a:rPr lang="en-US" sz="1600" dirty="0"/>
              <a:t>The information of this product is very little, just about 2 or 3 sentences…some brief information that all computers should have...This pissed me off, because every computer has that same information. So I didn’t buy it. (Coder) </a:t>
            </a:r>
          </a:p>
        </p:txBody>
      </p:sp>
    </p:spTree>
    <p:extLst>
      <p:ext uri="{BB962C8B-B14F-4D97-AF65-F5344CB8AC3E}">
        <p14:creationId xmlns:p14="http://schemas.microsoft.com/office/powerpoint/2010/main" val="177677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Thematic analysis</a:t>
            </a:r>
            <a:endParaRPr lang="en-US" dirty="0">
              <a:latin typeface="+mj-lt"/>
            </a:endParaRPr>
          </a:p>
        </p:txBody>
      </p:sp>
      <p:pic>
        <p:nvPicPr>
          <p:cNvPr id="22" name="Google Shape;75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5583" y="3787070"/>
            <a:ext cx="2209351" cy="22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Rectangle 22"/>
          <p:cNvSpPr/>
          <p:nvPr/>
        </p:nvSpPr>
        <p:spPr>
          <a:xfrm>
            <a:off x="235528" y="1297362"/>
            <a:ext cx="6532418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Theme 3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: Electronic word-of-mouth</a:t>
            </a:r>
          </a:p>
          <a:p>
            <a:pPr>
              <a:spcAft>
                <a:spcPts val="400"/>
              </a:spcAft>
            </a:pPr>
            <a:endParaRPr lang="en-US" sz="18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400"/>
              </a:spcAft>
            </a:pPr>
            <a:endParaRPr lang="en-US" sz="1800" dirty="0" smtClean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Oval Callout 4"/>
          <p:cNvSpPr/>
          <p:nvPr/>
        </p:nvSpPr>
        <p:spPr>
          <a:xfrm>
            <a:off x="3609109" y="1591409"/>
            <a:ext cx="4814891" cy="2784764"/>
          </a:xfrm>
          <a:prstGeom prst="wedgeEllipseCallout">
            <a:avLst/>
          </a:prstGeom>
          <a:solidFill>
            <a:srgbClr val="E8E8E8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I don’t trust most of the advertisements of brands… </a:t>
            </a:r>
            <a:r>
              <a:rPr lang="en-US" sz="1500" dirty="0"/>
              <a:t>, I trust </a:t>
            </a:r>
            <a:r>
              <a:rPr lang="en-US" sz="1500" dirty="0" err="1" smtClean="0"/>
              <a:t>KOC</a:t>
            </a:r>
            <a:r>
              <a:rPr lang="en-US" sz="1500" dirty="0" smtClean="0"/>
              <a:t>. </a:t>
            </a:r>
            <a:r>
              <a:rPr lang="en-US" sz="1500" dirty="0" err="1" smtClean="0"/>
              <a:t>KOC</a:t>
            </a:r>
            <a:r>
              <a:rPr lang="en-US" sz="1500" dirty="0" smtClean="0"/>
              <a:t> </a:t>
            </a:r>
            <a:r>
              <a:rPr lang="en-US" sz="1500" dirty="0" smtClean="0"/>
              <a:t>did </a:t>
            </a:r>
            <a:r>
              <a:rPr lang="en-US" sz="1500" dirty="0"/>
              <a:t>not receive money to advertise products… </a:t>
            </a:r>
            <a:r>
              <a:rPr lang="en-US" sz="1500" dirty="0" err="1"/>
              <a:t>KOC</a:t>
            </a:r>
            <a:r>
              <a:rPr lang="en-US" sz="1500" dirty="0"/>
              <a:t> gives opinions and shares their experience about products, without bias. If </a:t>
            </a:r>
            <a:r>
              <a:rPr lang="en-US" sz="1500" dirty="0" err="1"/>
              <a:t>KOCs</a:t>
            </a:r>
            <a:r>
              <a:rPr lang="en-US" sz="1500" dirty="0"/>
              <a:t> suggests a product that I do not like, I will give it a second chance to persuade me. (Digital marketing agency)</a:t>
            </a:r>
          </a:p>
        </p:txBody>
      </p:sp>
    </p:spTree>
    <p:extLst>
      <p:ext uri="{BB962C8B-B14F-4D97-AF65-F5344CB8AC3E}">
        <p14:creationId xmlns:p14="http://schemas.microsoft.com/office/powerpoint/2010/main" val="111767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Thematic analysis</a:t>
            </a:r>
            <a:endParaRPr lang="en-US" dirty="0">
              <a:latin typeface="+mj-lt"/>
            </a:endParaRPr>
          </a:p>
        </p:txBody>
      </p:sp>
      <p:pic>
        <p:nvPicPr>
          <p:cNvPr id="22" name="Google Shape;75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25583" y="3787070"/>
            <a:ext cx="2209351" cy="22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Rectangle 22"/>
          <p:cNvSpPr/>
          <p:nvPr/>
        </p:nvSpPr>
        <p:spPr>
          <a:xfrm>
            <a:off x="187037" y="1283508"/>
            <a:ext cx="6532418" cy="1051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800" b="1" dirty="0" smtClean="0">
                <a:latin typeface="Arial" panose="020B0604020202020204" pitchFamily="34" charset="0"/>
                <a:ea typeface="Calibri" panose="020F0502020204030204" pitchFamily="34" charset="0"/>
              </a:rPr>
              <a:t>Theme 4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: Interaction </a:t>
            </a: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</a:rPr>
              <a:t>between brand and </a:t>
            </a:r>
            <a:r>
              <a:rPr lang="en-US" sz="1800" dirty="0" smtClean="0">
                <a:latin typeface="Arial" panose="020B0604020202020204" pitchFamily="34" charset="0"/>
                <a:ea typeface="Calibri" panose="020F0502020204030204" pitchFamily="34" charset="0"/>
              </a:rPr>
              <a:t>customers </a:t>
            </a:r>
          </a:p>
          <a:p>
            <a:pPr>
              <a:spcAft>
                <a:spcPts val="400"/>
              </a:spcAft>
            </a:pPr>
            <a:endParaRPr lang="en-US" sz="180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400"/>
              </a:spcAft>
            </a:pPr>
            <a:endParaRPr lang="en-US" sz="1800" dirty="0" smtClean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Oval Callout 4"/>
          <p:cNvSpPr/>
          <p:nvPr/>
        </p:nvSpPr>
        <p:spPr>
          <a:xfrm>
            <a:off x="4442911" y="1874790"/>
            <a:ext cx="4601955" cy="2784764"/>
          </a:xfrm>
          <a:prstGeom prst="wedgeEllipseCallout">
            <a:avLst/>
          </a:prstGeom>
          <a:solidFill>
            <a:srgbClr val="E8E8E8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I saw a good advertisement with attractive content and detailed information about the product... admin changed my mind... He was rude and grumpy. It just liked that I was begging him for the product… I will never buy the product of this brand. (Sales manager) </a:t>
            </a:r>
          </a:p>
        </p:txBody>
      </p:sp>
      <p:sp>
        <p:nvSpPr>
          <p:cNvPr id="6" name="Oval Callout 5"/>
          <p:cNvSpPr/>
          <p:nvPr/>
        </p:nvSpPr>
        <p:spPr>
          <a:xfrm>
            <a:off x="0" y="1958555"/>
            <a:ext cx="4255874" cy="2756417"/>
          </a:xfrm>
          <a:prstGeom prst="wedgeEllipseCallout">
            <a:avLst/>
          </a:prstGeom>
          <a:solidFill>
            <a:srgbClr val="E8E8E8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It was recommended by many </a:t>
            </a:r>
            <a:r>
              <a:rPr lang="en-US" sz="1500" dirty="0" err="1"/>
              <a:t>KOLs</a:t>
            </a:r>
            <a:r>
              <a:rPr lang="en-US" sz="1500" dirty="0"/>
              <a:t> (influencers). However, the one that persuaded me was the admin of the page…She was nice and willing to listen to my requirements. (IT helpdesk manager) </a:t>
            </a:r>
          </a:p>
        </p:txBody>
      </p:sp>
    </p:spTree>
    <p:extLst>
      <p:ext uri="{BB962C8B-B14F-4D97-AF65-F5344CB8AC3E}">
        <p14:creationId xmlns:p14="http://schemas.microsoft.com/office/powerpoint/2010/main" val="280569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79" y="174928"/>
            <a:ext cx="7704000" cy="564300"/>
          </a:xfrm>
        </p:spPr>
        <p:txBody>
          <a:bodyPr/>
          <a:lstStyle/>
          <a:p>
            <a:r>
              <a:rPr lang="en-US" dirty="0" smtClean="0">
                <a:latin typeface="+mn-lt"/>
              </a:rPr>
              <a:t>5. Conclusion</a:t>
            </a:r>
            <a:endParaRPr lang="en-US" dirty="0">
              <a:latin typeface="+mn-lt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5653" y="876144"/>
            <a:ext cx="8542656" cy="4104565"/>
          </a:xfrm>
        </p:spPr>
        <p:txBody>
          <a:bodyPr/>
          <a:lstStyle/>
          <a:p>
            <a:pPr marL="139700" indent="0" algn="just">
              <a:buNone/>
            </a:pPr>
            <a:r>
              <a:rPr lang="en-US" sz="1700" dirty="0" smtClean="0">
                <a:latin typeface="+mn-lt"/>
              </a:rPr>
              <a:t>- </a:t>
            </a:r>
            <a:r>
              <a:rPr lang="en-US" sz="1700" dirty="0" smtClean="0"/>
              <a:t>This </a:t>
            </a:r>
            <a:r>
              <a:rPr lang="en-US" sz="1700" dirty="0"/>
              <a:t>influence of social media </a:t>
            </a:r>
            <a:r>
              <a:rPr lang="en-US" sz="1700" dirty="0" smtClean="0"/>
              <a:t>marketing on purchase intention </a:t>
            </a:r>
            <a:r>
              <a:rPr lang="en-US" sz="1700" dirty="0"/>
              <a:t>was measured by 4</a:t>
            </a:r>
            <a:r>
              <a:rPr lang="en-US" sz="1700" dirty="0" smtClean="0"/>
              <a:t> themes (“Content </a:t>
            </a:r>
            <a:r>
              <a:rPr lang="en-US" sz="1700" dirty="0"/>
              <a:t>of advertisement”, “Information of the product in the advertisement”, “Electronic word-of-mouth” and “Interaction between brand and customers</a:t>
            </a:r>
            <a:r>
              <a:rPr lang="en-US" sz="1700" dirty="0" smtClean="0"/>
              <a:t>”).</a:t>
            </a:r>
            <a:endParaRPr lang="en-US" sz="1700" dirty="0"/>
          </a:p>
          <a:p>
            <a:pPr marL="139700" indent="0" algn="just">
              <a:buNone/>
            </a:pPr>
            <a:endParaRPr lang="en-US" sz="1700" dirty="0" smtClean="0">
              <a:latin typeface="+mn-lt"/>
            </a:endParaRPr>
          </a:p>
          <a:p>
            <a:pPr marL="139700" indent="0" algn="just">
              <a:buNone/>
            </a:pPr>
            <a:r>
              <a:rPr lang="en-US" sz="1700" dirty="0" smtClean="0">
                <a:latin typeface="+mn-lt"/>
              </a:rPr>
              <a:t>- Social </a:t>
            </a:r>
            <a:r>
              <a:rPr lang="en-US" sz="1700" dirty="0">
                <a:latin typeface="+mn-lt"/>
              </a:rPr>
              <a:t>media marketing had huge impact on purchase intention. </a:t>
            </a:r>
            <a:endParaRPr lang="en-US" sz="1700" dirty="0" smtClean="0">
              <a:latin typeface="+mn-lt"/>
            </a:endParaRPr>
          </a:p>
          <a:p>
            <a:pPr marL="139700" indent="0" algn="just">
              <a:buNone/>
            </a:pPr>
            <a:endParaRPr lang="en-US" sz="1500" dirty="0" smtClean="0">
              <a:latin typeface="+mn-lt"/>
            </a:endParaRPr>
          </a:p>
          <a:p>
            <a:pPr marL="139700" indent="0" algn="just">
              <a:buNone/>
            </a:pPr>
            <a:r>
              <a:rPr lang="en-US" sz="1500" dirty="0" smtClean="0">
                <a:latin typeface="+mn-lt"/>
              </a:rPr>
              <a:t>(</a:t>
            </a:r>
            <a:r>
              <a:rPr lang="en-US" sz="1500" dirty="0">
                <a:latin typeface="+mn-lt"/>
              </a:rPr>
              <a:t>Kim and </a:t>
            </a:r>
            <a:r>
              <a:rPr lang="en-US" sz="1500" dirty="0" err="1">
                <a:latin typeface="+mn-lt"/>
              </a:rPr>
              <a:t>Ko</a:t>
            </a:r>
            <a:r>
              <a:rPr lang="en-US" sz="1500" dirty="0">
                <a:latin typeface="+mn-lt"/>
              </a:rPr>
              <a:t>, 2010; </a:t>
            </a:r>
            <a:r>
              <a:rPr lang="en-US" sz="1500" dirty="0" err="1">
                <a:latin typeface="+mn-lt"/>
              </a:rPr>
              <a:t>Balakrishnan</a:t>
            </a:r>
            <a:r>
              <a:rPr lang="en-US" sz="1500" dirty="0">
                <a:latin typeface="+mn-lt"/>
              </a:rPr>
              <a:t> et al., 2014; Mai and Tran, 2016; </a:t>
            </a:r>
            <a:r>
              <a:rPr lang="en-US" sz="1500" dirty="0" err="1">
                <a:latin typeface="+mn-lt"/>
              </a:rPr>
              <a:t>Gautam</a:t>
            </a:r>
            <a:r>
              <a:rPr lang="en-US" sz="1500" dirty="0">
                <a:latin typeface="+mn-lt"/>
              </a:rPr>
              <a:t> and Sharma, 2017; </a:t>
            </a:r>
            <a:r>
              <a:rPr lang="en-US" sz="1500" dirty="0" err="1">
                <a:latin typeface="+mn-lt"/>
              </a:rPr>
              <a:t>Laksamana</a:t>
            </a:r>
            <a:r>
              <a:rPr lang="en-US" sz="1500" dirty="0">
                <a:latin typeface="+mn-lt"/>
              </a:rPr>
              <a:t>, 2018; </a:t>
            </a:r>
            <a:r>
              <a:rPr lang="en-US" sz="1500" dirty="0" err="1">
                <a:latin typeface="+mn-lt"/>
              </a:rPr>
              <a:t>Almohaimmeed</a:t>
            </a:r>
            <a:r>
              <a:rPr lang="en-US" sz="1500" dirty="0">
                <a:latin typeface="+mn-lt"/>
              </a:rPr>
              <a:t>, 2019</a:t>
            </a:r>
            <a:r>
              <a:rPr lang="en-US" sz="1500" dirty="0" smtClean="0">
                <a:latin typeface="+mn-lt"/>
              </a:rPr>
              <a:t>).</a:t>
            </a:r>
          </a:p>
          <a:p>
            <a:pPr marL="139700" indent="0" algn="just">
              <a:buNone/>
            </a:pPr>
            <a:endParaRPr lang="en-US" sz="1700" dirty="0">
              <a:latin typeface="+mn-lt"/>
            </a:endParaRPr>
          </a:p>
          <a:p>
            <a:pPr marL="139700" indent="0" algn="just">
              <a:buNone/>
            </a:pPr>
            <a:endParaRPr lang="en-US" sz="1700" dirty="0">
              <a:latin typeface="+mn-lt"/>
            </a:endParaRPr>
          </a:p>
          <a:p>
            <a:pPr marL="139700" indent="0" algn="just">
              <a:buNone/>
            </a:pPr>
            <a:r>
              <a:rPr lang="en-US" sz="1700" dirty="0">
                <a:latin typeface="+mn-lt"/>
              </a:rPr>
              <a:t>- This study provided a new model about the impact of social media marketing on purchase intention in Viet Nam. </a:t>
            </a:r>
            <a:r>
              <a:rPr lang="en-US" sz="1700" dirty="0"/>
              <a:t>Also, the study deepens the </a:t>
            </a:r>
            <a:r>
              <a:rPr lang="en-US" sz="1700" dirty="0" smtClean="0"/>
              <a:t>understanding and enrich academic resources in this topic. </a:t>
            </a:r>
            <a:r>
              <a:rPr lang="en-US" sz="1700" dirty="0" smtClean="0">
                <a:latin typeface="+mn-lt"/>
              </a:rPr>
              <a:t>This </a:t>
            </a:r>
            <a:r>
              <a:rPr lang="en-US" sz="1700" dirty="0">
                <a:latin typeface="+mn-lt"/>
              </a:rPr>
              <a:t>study provides valuable insights for future studies in this topic. </a:t>
            </a:r>
          </a:p>
        </p:txBody>
      </p:sp>
      <p:pic>
        <p:nvPicPr>
          <p:cNvPr id="11" name="Google Shape;1116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6816" y="2448750"/>
            <a:ext cx="1155139" cy="115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11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9183" y="-1267049"/>
            <a:ext cx="2534083" cy="2534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11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1792" y="-526289"/>
            <a:ext cx="1402422" cy="14024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261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7"/>
          <p:cNvSpPr txBox="1">
            <a:spLocks noGrp="1"/>
          </p:cNvSpPr>
          <p:nvPr>
            <p:ph type="title"/>
          </p:nvPr>
        </p:nvSpPr>
        <p:spPr>
          <a:xfrm>
            <a:off x="518532" y="245942"/>
            <a:ext cx="2729782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>
                <a:latin typeface="+mj-lt"/>
              </a:rPr>
              <a:t>Implications </a:t>
            </a:r>
            <a:endParaRPr sz="2400" dirty="0">
              <a:latin typeface="+mj-lt"/>
            </a:endParaRPr>
          </a:p>
        </p:txBody>
      </p:sp>
      <p:sp>
        <p:nvSpPr>
          <p:cNvPr id="1113" name="Google Shape;1113;p57"/>
          <p:cNvSpPr txBox="1">
            <a:spLocks noGrp="1"/>
          </p:cNvSpPr>
          <p:nvPr>
            <p:ph type="body" idx="1"/>
          </p:nvPr>
        </p:nvSpPr>
        <p:spPr>
          <a:xfrm>
            <a:off x="366639" y="686108"/>
            <a:ext cx="8118763" cy="3976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US" dirty="0" smtClean="0">
              <a:latin typeface="+mj-lt"/>
            </a:endParaRPr>
          </a:p>
          <a:p>
            <a:pPr marL="139700" indent="0" algn="just">
              <a:buNone/>
            </a:pPr>
            <a:r>
              <a:rPr lang="en-US" sz="1600" dirty="0" smtClean="0">
                <a:latin typeface="+mj-lt"/>
              </a:rPr>
              <a:t>- The advertisement needs to be entertaining, but also delivers meaningful message at the suitable time</a:t>
            </a:r>
            <a:endParaRPr lang="en-US" sz="1600" dirty="0">
              <a:latin typeface="+mj-lt"/>
            </a:endParaRPr>
          </a:p>
          <a:p>
            <a:pPr marL="139700" indent="0" algn="just">
              <a:buNone/>
            </a:pPr>
            <a:endParaRPr lang="en-US" sz="1600" dirty="0" smtClean="0">
              <a:latin typeface="+mj-lt"/>
            </a:endParaRPr>
          </a:p>
          <a:p>
            <a:pPr marL="139700" indent="0" algn="just">
              <a:buNone/>
            </a:pPr>
            <a:r>
              <a:rPr lang="en-US" sz="1600" dirty="0" smtClean="0">
                <a:latin typeface="+mj-lt"/>
              </a:rPr>
              <a:t>- The </a:t>
            </a:r>
            <a:r>
              <a:rPr lang="en-US" sz="1600" dirty="0">
                <a:latin typeface="+mj-lt"/>
              </a:rPr>
              <a:t>information of products within an advertisement and the electronic word-of-mouth needs to </a:t>
            </a:r>
            <a:r>
              <a:rPr lang="en-US" sz="1600" dirty="0" smtClean="0">
                <a:latin typeface="+mj-lt"/>
              </a:rPr>
              <a:t>cooperate harmoniously </a:t>
            </a:r>
            <a:r>
              <a:rPr lang="en-US" sz="1600" dirty="0">
                <a:latin typeface="+mj-lt"/>
              </a:rPr>
              <a:t>to have successful marketing.</a:t>
            </a:r>
          </a:p>
          <a:p>
            <a:pPr marL="139700" indent="0" algn="just">
              <a:buNone/>
            </a:pPr>
            <a:endParaRPr lang="en-US" sz="1600" dirty="0" smtClean="0">
              <a:latin typeface="+mj-lt"/>
            </a:endParaRPr>
          </a:p>
          <a:p>
            <a:pPr marL="139700" indent="0" algn="just">
              <a:buNone/>
            </a:pPr>
            <a:r>
              <a:rPr lang="en-US" sz="1600" dirty="0" smtClean="0">
                <a:latin typeface="+mj-lt"/>
              </a:rPr>
              <a:t>- The </a:t>
            </a:r>
            <a:r>
              <a:rPr lang="en-US" sz="1600" dirty="0">
                <a:latin typeface="+mj-lt"/>
              </a:rPr>
              <a:t>interaction between brand and customer needs to be considered </a:t>
            </a:r>
            <a:r>
              <a:rPr lang="en-US" sz="1600" dirty="0" smtClean="0">
                <a:latin typeface="+mj-lt"/>
              </a:rPr>
              <a:t>carefully. </a:t>
            </a:r>
            <a:r>
              <a:rPr lang="en-US" sz="1600" dirty="0"/>
              <a:t>W</a:t>
            </a:r>
            <a:r>
              <a:rPr lang="en-US" sz="1600" dirty="0" smtClean="0"/>
              <a:t>hen </a:t>
            </a:r>
            <a:r>
              <a:rPr lang="en-US" sz="1600" dirty="0"/>
              <a:t>promoting </a:t>
            </a:r>
            <a:r>
              <a:rPr lang="en-US" sz="1600" dirty="0" smtClean="0"/>
              <a:t>products</a:t>
            </a:r>
            <a:r>
              <a:rPr lang="en-US" sz="1600" dirty="0" smtClean="0">
                <a:latin typeface="+mj-lt"/>
              </a:rPr>
              <a:t>, </a:t>
            </a:r>
            <a:r>
              <a:rPr lang="en-US" sz="1600" dirty="0">
                <a:latin typeface="+mj-lt"/>
              </a:rPr>
              <a:t>the marketer should make sure that customers are respected and feel </a:t>
            </a:r>
            <a:r>
              <a:rPr lang="en-US" sz="1600" dirty="0" smtClean="0">
                <a:latin typeface="+mj-lt"/>
              </a:rPr>
              <a:t>comfortable.</a:t>
            </a:r>
          </a:p>
          <a:p>
            <a:pPr marL="139700" indent="0" algn="just">
              <a:buNone/>
            </a:pPr>
            <a:endParaRPr lang="en-US" sz="1600" dirty="0" smtClean="0">
              <a:latin typeface="+mj-lt"/>
            </a:endParaRPr>
          </a:p>
          <a:p>
            <a:pPr marL="139700" indent="0" algn="just">
              <a:buNone/>
            </a:pPr>
            <a:r>
              <a:rPr lang="en-US" sz="1600" dirty="0" smtClean="0">
                <a:solidFill>
                  <a:schemeClr val="dk1"/>
                </a:solidFill>
                <a:latin typeface="+mj-lt"/>
              </a:rPr>
              <a:t>- </a:t>
            </a:r>
            <a:r>
              <a:rPr lang="en-US" sz="1600" dirty="0">
                <a:latin typeface="+mj-lt"/>
              </a:rPr>
              <a:t>T</a:t>
            </a:r>
            <a:r>
              <a:rPr lang="en-US" sz="1600" dirty="0" smtClean="0">
                <a:latin typeface="+mj-lt"/>
              </a:rPr>
              <a:t>he </a:t>
            </a:r>
            <a:r>
              <a:rPr lang="en-US" sz="1600" dirty="0">
                <a:latin typeface="+mj-lt"/>
              </a:rPr>
              <a:t>marketer should not focus only on one factor, but needs </a:t>
            </a:r>
            <a:r>
              <a:rPr lang="en-US" sz="1600" dirty="0" smtClean="0">
                <a:latin typeface="+mj-lt"/>
              </a:rPr>
              <a:t>to consider other factors to </a:t>
            </a:r>
            <a:r>
              <a:rPr lang="en-US" sz="1600" dirty="0">
                <a:latin typeface="+mj-lt"/>
              </a:rPr>
              <a:t>have a comprehensive strategy for a successful marketing campaign. </a:t>
            </a:r>
          </a:p>
          <a:p>
            <a:pPr marL="139700" indent="0" algn="just">
              <a:buNone/>
            </a:pPr>
            <a:endParaRPr lang="en-US" dirty="0">
              <a:latin typeface="+mj-lt"/>
            </a:endParaRPr>
          </a:p>
        </p:txBody>
      </p:sp>
      <p:pic>
        <p:nvPicPr>
          <p:cNvPr id="1116" name="Google Shape;111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630" y="-469041"/>
            <a:ext cx="1155139" cy="115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1304" y="1523159"/>
            <a:ext cx="2534083" cy="2534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966510" y="20345"/>
            <a:ext cx="1402422" cy="1402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57"/>
          <p:cNvSpPr txBox="1">
            <a:spLocks noGrp="1"/>
          </p:cNvSpPr>
          <p:nvPr>
            <p:ph type="body" idx="1"/>
          </p:nvPr>
        </p:nvSpPr>
        <p:spPr>
          <a:xfrm>
            <a:off x="460527" y="879057"/>
            <a:ext cx="5805491" cy="10328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800" dirty="0" smtClean="0">
                <a:solidFill>
                  <a:schemeClr val="dk1"/>
                </a:solidFill>
                <a:latin typeface="+mj-lt"/>
              </a:rPr>
              <a:t>Sampling method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800" dirty="0">
              <a:solidFill>
                <a:schemeClr val="dk1"/>
              </a:solidFill>
              <a:latin typeface="+mj-lt"/>
            </a:endParaRPr>
          </a:p>
          <a:p>
            <a:pPr marL="285750" lvl="0" indent="-285750">
              <a:lnSpc>
                <a:spcPct val="115000"/>
              </a:lnSpc>
              <a:buFontTx/>
              <a:buChar char="-"/>
            </a:pPr>
            <a:r>
              <a:rPr lang="en-US" sz="1800" dirty="0">
                <a:latin typeface="+mj-lt"/>
              </a:rPr>
              <a:t>T</a:t>
            </a:r>
            <a:r>
              <a:rPr lang="en-US" sz="1800" dirty="0" smtClean="0">
                <a:latin typeface="+mj-lt"/>
              </a:rPr>
              <a:t>he </a:t>
            </a:r>
            <a:r>
              <a:rPr lang="en-US" sz="1800" dirty="0">
                <a:latin typeface="+mj-lt"/>
              </a:rPr>
              <a:t>consideration of demographics</a:t>
            </a:r>
            <a:endParaRPr sz="1800" dirty="0">
              <a:solidFill>
                <a:schemeClr val="dk1"/>
              </a:solidFill>
              <a:latin typeface="+mj-lt"/>
            </a:endParaRPr>
          </a:p>
        </p:txBody>
      </p:sp>
      <p:pic>
        <p:nvPicPr>
          <p:cNvPr id="1116" name="Google Shape;111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0879" y="-230072"/>
            <a:ext cx="1155139" cy="115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7723" y="-1123060"/>
            <a:ext cx="2534083" cy="2534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883890" y="-455274"/>
            <a:ext cx="1402422" cy="14024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112;p57"/>
          <p:cNvSpPr txBox="1">
            <a:spLocks/>
          </p:cNvSpPr>
          <p:nvPr/>
        </p:nvSpPr>
        <p:spPr>
          <a:xfrm>
            <a:off x="518532" y="220145"/>
            <a:ext cx="2729782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Libre Baskerville"/>
              <a:buNone/>
              <a:defRPr sz="2800" b="1" i="0" u="none" strike="noStrike" cap="none">
                <a:solidFill>
                  <a:schemeClr val="accen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r>
              <a:rPr lang="en-US" sz="2400" dirty="0" smtClean="0">
                <a:latin typeface="+mj-lt"/>
              </a:rPr>
              <a:t>Limitations</a:t>
            </a:r>
            <a:endParaRPr lang="en-US" sz="2400" dirty="0">
              <a:latin typeface="+mj-lt"/>
            </a:endParaRPr>
          </a:p>
        </p:txBody>
      </p:sp>
      <p:sp>
        <p:nvSpPr>
          <p:cNvPr id="10" name="Google Shape;1112;p57"/>
          <p:cNvSpPr txBox="1">
            <a:spLocks/>
          </p:cNvSpPr>
          <p:nvPr/>
        </p:nvSpPr>
        <p:spPr>
          <a:xfrm>
            <a:off x="460527" y="2028236"/>
            <a:ext cx="7117836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Libre Baskerville"/>
              <a:buNone/>
              <a:defRPr sz="2800" b="1" i="0" u="none" strike="noStrike" cap="none">
                <a:solidFill>
                  <a:schemeClr val="accen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Merriweather Black"/>
              <a:buNone/>
              <a:defRPr sz="3100" b="0" i="0" u="none" strike="noStrike" cap="none">
                <a:solidFill>
                  <a:schemeClr val="dk1"/>
                </a:solidFill>
                <a:latin typeface="Merriweather Black"/>
                <a:ea typeface="Merriweather Black"/>
                <a:cs typeface="Merriweather Black"/>
                <a:sym typeface="Merriweather Black"/>
              </a:defRPr>
            </a:lvl9pPr>
          </a:lstStyle>
          <a:p>
            <a:r>
              <a:rPr lang="en-US" sz="2400" dirty="0" smtClean="0">
                <a:latin typeface="+mj-lt"/>
              </a:rPr>
              <a:t>Recommendation </a:t>
            </a:r>
            <a:r>
              <a:rPr lang="en-US" sz="2400" dirty="0">
                <a:latin typeface="+mj-lt"/>
              </a:rPr>
              <a:t>for future research</a:t>
            </a:r>
          </a:p>
        </p:txBody>
      </p:sp>
      <p:sp>
        <p:nvSpPr>
          <p:cNvPr id="11" name="Google Shape;1113;p57"/>
          <p:cNvSpPr txBox="1">
            <a:spLocks/>
          </p:cNvSpPr>
          <p:nvPr/>
        </p:nvSpPr>
        <p:spPr>
          <a:xfrm>
            <a:off x="460527" y="2708845"/>
            <a:ext cx="7436564" cy="177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rgbClr val="43434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285750" indent="-285750" algn="just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sz="1800" dirty="0" smtClean="0">
                <a:solidFill>
                  <a:schemeClr val="dk1"/>
                </a:solidFill>
                <a:latin typeface="+mj-lt"/>
              </a:rPr>
              <a:t>Having </a:t>
            </a:r>
            <a:r>
              <a:rPr lang="en-US" sz="1800" dirty="0">
                <a:solidFill>
                  <a:schemeClr val="dk1"/>
                </a:solidFill>
                <a:latin typeface="+mj-lt"/>
              </a:rPr>
              <a:t>a bigger sample size and age range of the </a:t>
            </a:r>
            <a:r>
              <a:rPr lang="en-US" sz="1800" dirty="0" smtClean="0">
                <a:solidFill>
                  <a:schemeClr val="dk1"/>
                </a:solidFill>
                <a:latin typeface="+mj-lt"/>
              </a:rPr>
              <a:t>participants. </a:t>
            </a:r>
          </a:p>
          <a:p>
            <a:pPr marL="285750" indent="-285750" algn="just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sz="1800" dirty="0">
                <a:solidFill>
                  <a:schemeClr val="dk1"/>
                </a:solidFill>
                <a:latin typeface="+mj-lt"/>
              </a:rPr>
              <a:t>U</a:t>
            </a:r>
            <a:r>
              <a:rPr lang="en-US" sz="1800" dirty="0" smtClean="0">
                <a:solidFill>
                  <a:schemeClr val="dk1"/>
                </a:solidFill>
                <a:latin typeface="+mj-lt"/>
              </a:rPr>
              <a:t>se </a:t>
            </a:r>
            <a:r>
              <a:rPr lang="en-US" sz="1800" dirty="0">
                <a:solidFill>
                  <a:schemeClr val="dk1"/>
                </a:solidFill>
                <a:latin typeface="+mj-lt"/>
              </a:rPr>
              <a:t>a mixed method of quantitative and qualitative </a:t>
            </a:r>
            <a:r>
              <a:rPr lang="en-US" sz="1800" dirty="0" smtClean="0">
                <a:solidFill>
                  <a:schemeClr val="dk1"/>
                </a:solidFill>
                <a:latin typeface="+mj-lt"/>
              </a:rPr>
              <a:t>analysis.</a:t>
            </a:r>
          </a:p>
          <a:p>
            <a:pPr marL="285750" indent="-285750" algn="just">
              <a:lnSpc>
                <a:spcPct val="115000"/>
              </a:lnSpc>
              <a:spcAft>
                <a:spcPts val="600"/>
              </a:spcAft>
              <a:buFontTx/>
              <a:buChar char="-"/>
            </a:pPr>
            <a:r>
              <a:rPr lang="en-US" sz="1800" dirty="0">
                <a:solidFill>
                  <a:schemeClr val="dk1"/>
                </a:solidFill>
                <a:latin typeface="+mj-lt"/>
              </a:rPr>
              <a:t>C</a:t>
            </a:r>
            <a:r>
              <a:rPr lang="en-US" sz="1800" dirty="0" smtClean="0">
                <a:solidFill>
                  <a:schemeClr val="dk1"/>
                </a:solidFill>
                <a:latin typeface="+mj-lt"/>
              </a:rPr>
              <a:t>onducted </a:t>
            </a:r>
            <a:r>
              <a:rPr lang="en-US" sz="1800" dirty="0">
                <a:solidFill>
                  <a:schemeClr val="dk1"/>
                </a:solidFill>
                <a:latin typeface="+mj-lt"/>
              </a:rPr>
              <a:t>in different settings like urban and rural areas, or age range, or gender differences.</a:t>
            </a:r>
          </a:p>
        </p:txBody>
      </p:sp>
    </p:spTree>
    <p:extLst>
      <p:ext uri="{BB962C8B-B14F-4D97-AF65-F5344CB8AC3E}">
        <p14:creationId xmlns:p14="http://schemas.microsoft.com/office/powerpoint/2010/main" val="369910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4"/>
          <p:cNvSpPr txBox="1">
            <a:spLocks noGrp="1"/>
          </p:cNvSpPr>
          <p:nvPr>
            <p:ph type="title"/>
          </p:nvPr>
        </p:nvSpPr>
        <p:spPr>
          <a:xfrm>
            <a:off x="312988" y="203325"/>
            <a:ext cx="3756900" cy="94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j-lt"/>
              </a:rPr>
              <a:t>6. Reference list</a:t>
            </a:r>
            <a:endParaRPr dirty="0">
              <a:latin typeface="+mj-lt"/>
            </a:endParaRPr>
          </a:p>
        </p:txBody>
      </p:sp>
      <p:sp>
        <p:nvSpPr>
          <p:cNvPr id="747" name="Google Shape;747;p54"/>
          <p:cNvSpPr txBox="1">
            <a:spLocks noGrp="1"/>
          </p:cNvSpPr>
          <p:nvPr>
            <p:ph type="subTitle" idx="1"/>
          </p:nvPr>
        </p:nvSpPr>
        <p:spPr>
          <a:xfrm rot="-223">
            <a:off x="529263" y="886674"/>
            <a:ext cx="7866589" cy="41355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spcAft>
                <a:spcPts val="800"/>
              </a:spcAft>
              <a:buNone/>
            </a:pPr>
            <a:r>
              <a:rPr lang="en-US" dirty="0" err="1" smtClean="0">
                <a:latin typeface="+mj-lt"/>
              </a:rPr>
              <a:t>Ajzen</a:t>
            </a:r>
            <a:r>
              <a:rPr lang="en-US" dirty="0">
                <a:latin typeface="+mj-lt"/>
              </a:rPr>
              <a:t>, I. (1991) The theory of planned behavior. </a:t>
            </a:r>
            <a:r>
              <a:rPr lang="en-US" i="1" dirty="0">
                <a:latin typeface="+mj-lt"/>
              </a:rPr>
              <a:t>Organizational behavior and human decision processes</a:t>
            </a:r>
            <a:r>
              <a:rPr lang="en-US" dirty="0">
                <a:latin typeface="+mj-lt"/>
              </a:rPr>
              <a:t>, 50(2), pp. 179-211.</a:t>
            </a:r>
          </a:p>
          <a:p>
            <a:pPr marL="139700" indent="0" algn="just">
              <a:spcAft>
                <a:spcPts val="800"/>
              </a:spcAft>
              <a:buNone/>
            </a:pPr>
            <a:r>
              <a:rPr lang="en-US" dirty="0" err="1">
                <a:latin typeface="+mj-lt"/>
              </a:rPr>
              <a:t>Almohaimmeed</a:t>
            </a:r>
            <a:r>
              <a:rPr lang="en-US" dirty="0">
                <a:latin typeface="+mj-lt"/>
              </a:rPr>
              <a:t>, B. M. (2019) The effects of social media marketing antecedents on social media marketing, brand loyalty and purchase intention: a customer perspective. </a:t>
            </a:r>
            <a:r>
              <a:rPr lang="en-US" i="1" dirty="0">
                <a:latin typeface="+mj-lt"/>
              </a:rPr>
              <a:t>Journal of Business and Retail Management Research</a:t>
            </a:r>
            <a:r>
              <a:rPr lang="en-US" dirty="0">
                <a:latin typeface="+mj-lt"/>
              </a:rPr>
              <a:t>, 13(4), pp. 146-157.</a:t>
            </a:r>
          </a:p>
          <a:p>
            <a:pPr marL="139700" indent="0" algn="just">
              <a:spcAft>
                <a:spcPts val="800"/>
              </a:spcAft>
              <a:buNone/>
            </a:pPr>
            <a:r>
              <a:rPr lang="en-US" dirty="0" err="1">
                <a:latin typeface="+mj-lt"/>
              </a:rPr>
              <a:t>Balakrishnan</a:t>
            </a:r>
            <a:r>
              <a:rPr lang="en-US" dirty="0">
                <a:latin typeface="+mj-lt"/>
              </a:rPr>
              <a:t>, B. K., </a:t>
            </a:r>
            <a:r>
              <a:rPr lang="en-US" dirty="0" err="1">
                <a:latin typeface="+mj-lt"/>
              </a:rPr>
              <a:t>Dahnil</a:t>
            </a:r>
            <a:r>
              <a:rPr lang="en-US" dirty="0">
                <a:latin typeface="+mj-lt"/>
              </a:rPr>
              <a:t>, M. I. and Yi, W. J. (2014) The impact of social media marketing medium toward purchase intention and brand loyalty among generation Y. </a:t>
            </a:r>
            <a:r>
              <a:rPr lang="en-US" i="1" dirty="0">
                <a:latin typeface="+mj-lt"/>
              </a:rPr>
              <a:t>Procedia-Social and Behavioral Sciences</a:t>
            </a:r>
            <a:r>
              <a:rPr lang="en-US" dirty="0">
                <a:latin typeface="+mj-lt"/>
              </a:rPr>
              <a:t>, 148, pp.177-185.</a:t>
            </a:r>
          </a:p>
          <a:p>
            <a:pPr marL="139700" indent="0" algn="just">
              <a:spcAft>
                <a:spcPts val="800"/>
              </a:spcAft>
              <a:buNone/>
            </a:pPr>
            <a:r>
              <a:rPr lang="en-US" dirty="0" err="1">
                <a:latin typeface="+mj-lt"/>
              </a:rPr>
              <a:t>Gautam</a:t>
            </a:r>
            <a:r>
              <a:rPr lang="en-US" dirty="0">
                <a:latin typeface="+mj-lt"/>
              </a:rPr>
              <a:t>, V. and Sharma, V. (2017) The mediating role of customer relationship on the social media marketing and purchase intention relationship with special reference to luxury fashion brands. </a:t>
            </a:r>
            <a:r>
              <a:rPr lang="en-US" i="1" dirty="0">
                <a:latin typeface="+mj-lt"/>
              </a:rPr>
              <a:t>Journal of Promotion Management</a:t>
            </a:r>
            <a:r>
              <a:rPr lang="en-US" dirty="0">
                <a:latin typeface="+mj-lt"/>
              </a:rPr>
              <a:t>, 23(6), pp. 872-888.</a:t>
            </a:r>
          </a:p>
          <a:p>
            <a:pPr marL="139700" indent="0" algn="just">
              <a:spcAft>
                <a:spcPts val="800"/>
              </a:spcAft>
              <a:buNone/>
            </a:pPr>
            <a:r>
              <a:rPr lang="en-US" dirty="0">
                <a:latin typeface="+mj-lt"/>
              </a:rPr>
              <a:t>Kim, A. J. and </a:t>
            </a:r>
            <a:r>
              <a:rPr lang="en-US" dirty="0" err="1">
                <a:latin typeface="+mj-lt"/>
              </a:rPr>
              <a:t>Ko</a:t>
            </a:r>
            <a:r>
              <a:rPr lang="en-US" dirty="0">
                <a:latin typeface="+mj-lt"/>
              </a:rPr>
              <a:t>, E. (2010) Impacts of luxury fashion brand's social media marketing on customer relationship and purchase intention. </a:t>
            </a:r>
            <a:r>
              <a:rPr lang="en-US" i="1" dirty="0">
                <a:latin typeface="+mj-lt"/>
              </a:rPr>
              <a:t>Journal of global fashion marketing</a:t>
            </a:r>
            <a:r>
              <a:rPr lang="en-US" dirty="0">
                <a:latin typeface="+mj-lt"/>
              </a:rPr>
              <a:t>, 1(3), pp. 164-171.</a:t>
            </a:r>
          </a:p>
          <a:p>
            <a:pPr marL="139700" indent="0" algn="just">
              <a:spcAft>
                <a:spcPts val="800"/>
              </a:spcAft>
              <a:buNone/>
            </a:pPr>
            <a:r>
              <a:rPr lang="en-US" dirty="0" err="1">
                <a:latin typeface="+mj-lt"/>
              </a:rPr>
              <a:t>Kudeshia</a:t>
            </a:r>
            <a:r>
              <a:rPr lang="en-US" dirty="0">
                <a:latin typeface="+mj-lt"/>
              </a:rPr>
              <a:t>, C. and Kumar, A. (2017) Social </a:t>
            </a:r>
            <a:r>
              <a:rPr lang="en-US" dirty="0" err="1">
                <a:latin typeface="+mj-lt"/>
              </a:rPr>
              <a:t>eWOM</a:t>
            </a:r>
            <a:r>
              <a:rPr lang="en-US" dirty="0">
                <a:latin typeface="+mj-lt"/>
              </a:rPr>
              <a:t>: does it affect the brand attitude and purchase intention of brands? </a:t>
            </a:r>
            <a:r>
              <a:rPr lang="en-US" i="1" dirty="0">
                <a:latin typeface="+mj-lt"/>
              </a:rPr>
              <a:t>Management Research Review</a:t>
            </a:r>
            <a:r>
              <a:rPr lang="en-US" dirty="0">
                <a:latin typeface="+mj-lt"/>
              </a:rPr>
              <a:t>, 40(3), pp. 310-330.</a:t>
            </a:r>
          </a:p>
          <a:p>
            <a:pPr>
              <a:spcAft>
                <a:spcPts val="600"/>
              </a:spcAft>
            </a:pPr>
            <a:endParaRPr lang="en-US" dirty="0">
              <a:latin typeface="+mj-lt"/>
            </a:endParaRPr>
          </a:p>
          <a:p>
            <a:endParaRPr lang="en-US" sz="900" dirty="0">
              <a:latin typeface="+mj-lt"/>
            </a:endParaRPr>
          </a:p>
          <a:p>
            <a:endParaRPr lang="en-US" sz="900" dirty="0">
              <a:latin typeface="+mj-lt"/>
            </a:endParaRPr>
          </a:p>
          <a:p>
            <a:endParaRPr lang="en-US" sz="900" dirty="0">
              <a:latin typeface="+mj-lt"/>
            </a:endParaRPr>
          </a:p>
          <a:p>
            <a:endParaRPr lang="en-US" sz="900" dirty="0">
              <a:latin typeface="+mj-lt"/>
            </a:endParaRPr>
          </a:p>
          <a:p>
            <a:endParaRPr lang="en-US" sz="900" dirty="0">
              <a:latin typeface="+mj-lt"/>
            </a:endParaRPr>
          </a:p>
        </p:txBody>
      </p:sp>
      <p:pic>
        <p:nvPicPr>
          <p:cNvPr id="749" name="Google Shape;74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0541" y="-316424"/>
            <a:ext cx="992699" cy="99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8171" y="2179091"/>
            <a:ext cx="2209351" cy="2209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553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4"/>
          <p:cNvSpPr txBox="1">
            <a:spLocks noGrp="1"/>
          </p:cNvSpPr>
          <p:nvPr>
            <p:ph type="title"/>
          </p:nvPr>
        </p:nvSpPr>
        <p:spPr>
          <a:xfrm>
            <a:off x="312988" y="203325"/>
            <a:ext cx="3756900" cy="94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j-lt"/>
              </a:rPr>
              <a:t>6. Reference list</a:t>
            </a:r>
            <a:endParaRPr dirty="0">
              <a:latin typeface="+mj-lt"/>
            </a:endParaRPr>
          </a:p>
        </p:txBody>
      </p:sp>
      <p:sp>
        <p:nvSpPr>
          <p:cNvPr id="747" name="Google Shape;747;p54"/>
          <p:cNvSpPr txBox="1">
            <a:spLocks noGrp="1"/>
          </p:cNvSpPr>
          <p:nvPr>
            <p:ph type="subTitle" idx="1"/>
          </p:nvPr>
        </p:nvSpPr>
        <p:spPr>
          <a:xfrm rot="-223">
            <a:off x="500154" y="949029"/>
            <a:ext cx="8235131" cy="3969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just">
              <a:spcAft>
                <a:spcPts val="800"/>
              </a:spcAft>
              <a:buNone/>
            </a:pPr>
            <a:r>
              <a:rPr lang="en-US" dirty="0" err="1" smtClean="0">
                <a:latin typeface="+mj-lt"/>
              </a:rPr>
              <a:t>Laksamana</a:t>
            </a:r>
            <a:r>
              <a:rPr lang="en-US" dirty="0">
                <a:latin typeface="+mj-lt"/>
              </a:rPr>
              <a:t>, P. (2018) Impact of Social Media Marketing on Purchase Intention and Brand Loyalty: Evidence from Indonesia’s Banking Industry. </a:t>
            </a:r>
            <a:r>
              <a:rPr lang="en-US" i="1" dirty="0">
                <a:latin typeface="+mj-lt"/>
              </a:rPr>
              <a:t>International Review of Management and Marketing</a:t>
            </a:r>
            <a:r>
              <a:rPr lang="en-US" dirty="0">
                <a:latin typeface="+mj-lt"/>
              </a:rPr>
              <a:t>, 8(1), pp. 13–18.</a:t>
            </a:r>
          </a:p>
          <a:p>
            <a:pPr marL="139700" indent="0" algn="just">
              <a:spcAft>
                <a:spcPts val="800"/>
              </a:spcAft>
              <a:buNone/>
            </a:pPr>
            <a:r>
              <a:rPr lang="en-US" dirty="0">
                <a:latin typeface="+mj-lt"/>
              </a:rPr>
              <a:t>Mai, N. K. and Tran, T. H. (2016). The Influence of social media marketing on Vietnamese </a:t>
            </a:r>
            <a:r>
              <a:rPr lang="en-US" dirty="0" err="1">
                <a:latin typeface="+mj-lt"/>
              </a:rPr>
              <a:t>traveller’s</a:t>
            </a:r>
            <a:r>
              <a:rPr lang="en-US" dirty="0">
                <a:latin typeface="+mj-lt"/>
              </a:rPr>
              <a:t> purchase intention in tourism industry in Ho Chi Minh City. </a:t>
            </a:r>
            <a:r>
              <a:rPr lang="en-US" i="1" dirty="0">
                <a:latin typeface="+mj-lt"/>
              </a:rPr>
              <a:t>Journal of Economics, Business and Management</a:t>
            </a:r>
            <a:r>
              <a:rPr lang="en-US" dirty="0">
                <a:latin typeface="+mj-lt"/>
              </a:rPr>
              <a:t>, 4(4), pp. 280-285.</a:t>
            </a:r>
          </a:p>
          <a:p>
            <a:pPr marL="139700" indent="0" algn="just">
              <a:spcAft>
                <a:spcPts val="800"/>
              </a:spcAft>
              <a:buNone/>
            </a:pPr>
            <a:r>
              <a:rPr lang="en-US" dirty="0">
                <a:latin typeface="+mj-lt"/>
              </a:rPr>
              <a:t>Ministry of Information and Communication of the Socialist Republic of Viet Nam. (2022) </a:t>
            </a:r>
            <a:r>
              <a:rPr lang="en-US" i="1" dirty="0">
                <a:latin typeface="+mj-lt"/>
              </a:rPr>
              <a:t>Users of apps, digital platforms rise in Vietnam.</a:t>
            </a:r>
            <a:r>
              <a:rPr lang="en-US" dirty="0">
                <a:latin typeface="+mj-lt"/>
              </a:rPr>
              <a:t> [Online]. Available from: https://</a:t>
            </a:r>
            <a:r>
              <a:rPr lang="en-US" dirty="0" err="1">
                <a:latin typeface="+mj-lt"/>
              </a:rPr>
              <a:t>english.mic.gov.vn</a:t>
            </a:r>
            <a:r>
              <a:rPr lang="en-US" dirty="0">
                <a:latin typeface="+mj-lt"/>
              </a:rPr>
              <a:t>/Pages/</a:t>
            </a:r>
            <a:r>
              <a:rPr lang="en-US" dirty="0" err="1">
                <a:latin typeface="+mj-lt"/>
              </a:rPr>
              <a:t>TinTuc</a:t>
            </a:r>
            <a:r>
              <a:rPr lang="en-US" dirty="0">
                <a:latin typeface="+mj-lt"/>
              </a:rPr>
              <a:t>/</a:t>
            </a:r>
            <a:r>
              <a:rPr lang="en-US" dirty="0" err="1">
                <a:latin typeface="+mj-lt"/>
              </a:rPr>
              <a:t>tinchitiet.aspx?tintucid</a:t>
            </a:r>
            <a:r>
              <a:rPr lang="en-US" dirty="0">
                <a:latin typeface="+mj-lt"/>
              </a:rPr>
              <a:t>=155671. [Accessed 1 March 2023].</a:t>
            </a:r>
          </a:p>
          <a:p>
            <a:pPr marL="139700" indent="0" algn="just">
              <a:spcAft>
                <a:spcPts val="800"/>
              </a:spcAft>
              <a:buNone/>
            </a:pPr>
            <a:r>
              <a:rPr lang="en-US" dirty="0">
                <a:latin typeface="+mj-lt"/>
              </a:rPr>
              <a:t>Saunders, M., Lewis, P. and Thornhill, A. (2007) </a:t>
            </a:r>
            <a:r>
              <a:rPr lang="en-US" i="1" dirty="0">
                <a:latin typeface="+mj-lt"/>
              </a:rPr>
              <a:t>Research methods for business students</a:t>
            </a:r>
            <a:r>
              <a:rPr lang="en-US" dirty="0">
                <a:latin typeface="+mj-lt"/>
              </a:rPr>
              <a:t>. 4th ed. Harlow: Pearson.</a:t>
            </a:r>
          </a:p>
          <a:p>
            <a:pPr marL="139700" indent="0" algn="just">
              <a:spcAft>
                <a:spcPts val="800"/>
              </a:spcAft>
              <a:buNone/>
            </a:pPr>
            <a:r>
              <a:rPr lang="en-US" dirty="0" err="1">
                <a:latin typeface="+mj-lt"/>
              </a:rPr>
              <a:t>Tuten</a:t>
            </a:r>
            <a:r>
              <a:rPr lang="en-US" dirty="0">
                <a:latin typeface="+mj-lt"/>
              </a:rPr>
              <a:t>, T. L. and Solomon, M. R. (2018) </a:t>
            </a:r>
            <a:r>
              <a:rPr lang="en-US" i="1" dirty="0">
                <a:latin typeface="+mj-lt"/>
              </a:rPr>
              <a:t>Social media marketing</a:t>
            </a:r>
            <a:r>
              <a:rPr lang="en-US" dirty="0">
                <a:latin typeface="+mj-lt"/>
              </a:rPr>
              <a:t>. 3rd ed. Los Angeles: Sage.</a:t>
            </a:r>
          </a:p>
          <a:p>
            <a:pPr marL="139700" indent="0" algn="just">
              <a:spcAft>
                <a:spcPts val="800"/>
              </a:spcAft>
              <a:buNone/>
            </a:pPr>
            <a:r>
              <a:rPr lang="en-US" dirty="0">
                <a:latin typeface="+mj-lt"/>
              </a:rPr>
              <a:t>Yu, L., Cao, X., Liu, Z. and Wang, J. (2018) Excessive social media use at work: Exploring the effects of social media overload on job performance. </a:t>
            </a:r>
            <a:r>
              <a:rPr lang="en-US" i="1" dirty="0">
                <a:latin typeface="+mj-lt"/>
              </a:rPr>
              <a:t>Information technology and people</a:t>
            </a:r>
            <a:r>
              <a:rPr lang="en-US" dirty="0">
                <a:latin typeface="+mj-lt"/>
              </a:rPr>
              <a:t>, 31(6), pp. 1091-1112.</a:t>
            </a:r>
          </a:p>
          <a:p>
            <a:endParaRPr lang="en-US" dirty="0">
              <a:latin typeface="+mj-lt"/>
            </a:endParaRPr>
          </a:p>
          <a:p>
            <a:endParaRPr lang="en-US" sz="900" dirty="0">
              <a:latin typeface="+mj-lt"/>
            </a:endParaRPr>
          </a:p>
          <a:p>
            <a:endParaRPr lang="en-US" sz="900" dirty="0">
              <a:latin typeface="+mj-lt"/>
            </a:endParaRPr>
          </a:p>
          <a:p>
            <a:endParaRPr lang="en-US" sz="900" dirty="0">
              <a:latin typeface="+mj-lt"/>
            </a:endParaRPr>
          </a:p>
          <a:p>
            <a:endParaRPr lang="en-US" sz="900" dirty="0">
              <a:latin typeface="+mj-lt"/>
            </a:endParaRPr>
          </a:p>
          <a:p>
            <a:endParaRPr lang="en-US" sz="900" dirty="0">
              <a:latin typeface="+mj-lt"/>
            </a:endParaRPr>
          </a:p>
        </p:txBody>
      </p:sp>
      <p:pic>
        <p:nvPicPr>
          <p:cNvPr id="750" name="Google Shape;75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3375" y="-1038081"/>
            <a:ext cx="2480996" cy="248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7116" y="3668455"/>
            <a:ext cx="2209351" cy="220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8" name="Google Shape;758;p55"/>
          <p:cNvCxnSpPr/>
          <p:nvPr/>
        </p:nvCxnSpPr>
        <p:spPr>
          <a:xfrm rot="10800000" flipH="1">
            <a:off x="206361" y="1025499"/>
            <a:ext cx="1280700" cy="1786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9" name="Google Shape;759;p55"/>
          <p:cNvCxnSpPr/>
          <p:nvPr/>
        </p:nvCxnSpPr>
        <p:spPr>
          <a:xfrm rot="10800000">
            <a:off x="1165920" y="1025498"/>
            <a:ext cx="681600" cy="29055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61" name="Google Shape;76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751" y="94347"/>
            <a:ext cx="1862228" cy="1862303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55"/>
          <p:cNvSpPr txBox="1">
            <a:spLocks noGrp="1"/>
          </p:cNvSpPr>
          <p:nvPr>
            <p:ph type="ctrTitle"/>
          </p:nvPr>
        </p:nvSpPr>
        <p:spPr>
          <a:xfrm>
            <a:off x="2207979" y="1466568"/>
            <a:ext cx="6427580" cy="11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j-lt"/>
              </a:rPr>
              <a:t>Thank you!</a:t>
            </a:r>
            <a:endParaRPr dirty="0">
              <a:latin typeface="+mj-lt"/>
            </a:endParaRPr>
          </a:p>
        </p:txBody>
      </p:sp>
      <p:sp>
        <p:nvSpPr>
          <p:cNvPr id="765" name="Google Shape;765;p55"/>
          <p:cNvSpPr txBox="1">
            <a:spLocks noGrp="1"/>
          </p:cNvSpPr>
          <p:nvPr>
            <p:ph type="subTitle" idx="1"/>
          </p:nvPr>
        </p:nvSpPr>
        <p:spPr>
          <a:xfrm>
            <a:off x="3844636" y="2812299"/>
            <a:ext cx="4475019" cy="1716355"/>
          </a:xfrm>
          <a:prstGeom prst="rect">
            <a:avLst/>
          </a:prstGeom>
          <a:solidFill>
            <a:srgbClr val="E8E8E8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900" dirty="0">
                <a:latin typeface="+mj-lt"/>
              </a:rPr>
              <a:t>Do you have any questions</a:t>
            </a:r>
            <a:r>
              <a:rPr lang="en" sz="1900" dirty="0" smtClean="0">
                <a:latin typeface="+mj-lt"/>
              </a:rPr>
              <a:t>?</a:t>
            </a:r>
            <a:endParaRPr sz="1900" dirty="0">
              <a:latin typeface="+mj-lt"/>
            </a:endParaRPr>
          </a:p>
        </p:txBody>
      </p:sp>
      <p:pic>
        <p:nvPicPr>
          <p:cNvPr id="787" name="Google Shape;78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70835" y="2211740"/>
            <a:ext cx="1904498" cy="190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6227" y="3387436"/>
            <a:ext cx="1033908" cy="1029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thical Code Thesis Defense by Slidesgo">
  <a:themeElements>
    <a:clrScheme name="Simple Light">
      <a:dk1>
        <a:srgbClr val="000000"/>
      </a:dk1>
      <a:lt1>
        <a:srgbClr val="FFFFFF"/>
      </a:lt1>
      <a:dk2>
        <a:srgbClr val="E8E8E8"/>
      </a:dk2>
      <a:lt2>
        <a:srgbClr val="F1BE5A"/>
      </a:lt2>
      <a:accent1>
        <a:srgbClr val="334070"/>
      </a:accent1>
      <a:accent2>
        <a:srgbClr val="707BAF"/>
      </a:accent2>
      <a:accent3>
        <a:srgbClr val="CDCAE1"/>
      </a:accent3>
      <a:accent4>
        <a:srgbClr val="EB8F73"/>
      </a:accent4>
      <a:accent5>
        <a:srgbClr val="F3C8BB"/>
      </a:accent5>
      <a:accent6>
        <a:srgbClr val="F3D2C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5672</TotalTime>
  <Words>1631</Words>
  <Application>Microsoft Office PowerPoint</Application>
  <PresentationFormat>On-screen Show (16:9)</PresentationFormat>
  <Paragraphs>178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Cabin</vt:lpstr>
      <vt:lpstr>Calibri</vt:lpstr>
      <vt:lpstr>Libre Baskerville</vt:lpstr>
      <vt:lpstr>Merriweather Black</vt:lpstr>
      <vt:lpstr>Times New Roman</vt:lpstr>
      <vt:lpstr>Ethical Code Thesis Defense by Slidesgo</vt:lpstr>
      <vt:lpstr>THE STUDY OF THE IMPACT OF SOCIAL MEDIA MARKETING ON PURCHASE INTENTION: A CASE STUDY OF BLUESEED DIGITAL COMPANY</vt:lpstr>
      <vt:lpstr>Acknowledgement</vt:lpstr>
      <vt:lpstr>Introduction</vt:lpstr>
      <vt:lpstr>1. Introduction</vt:lpstr>
      <vt:lpstr>Background</vt:lpstr>
      <vt:lpstr>Problem statement</vt:lpstr>
      <vt:lpstr>Purpose of the study</vt:lpstr>
      <vt:lpstr>2. Literature review</vt:lpstr>
      <vt:lpstr>Theory of Planned Behavior</vt:lpstr>
      <vt:lpstr>Empirical studies</vt:lpstr>
      <vt:lpstr>3. Methodology</vt:lpstr>
      <vt:lpstr>3. Methodology</vt:lpstr>
      <vt:lpstr>4. Findings</vt:lpstr>
      <vt:lpstr>Thematic analysis</vt:lpstr>
      <vt:lpstr>Thematic analysis</vt:lpstr>
      <vt:lpstr>Thematic analysis</vt:lpstr>
      <vt:lpstr>Thematic analysis</vt:lpstr>
      <vt:lpstr>Thematic analysis</vt:lpstr>
      <vt:lpstr>5. Conclusion</vt:lpstr>
      <vt:lpstr>Implications </vt:lpstr>
      <vt:lpstr>PowerPoint Presentation</vt:lpstr>
      <vt:lpstr>6. Reference list</vt:lpstr>
      <vt:lpstr>6. Reference list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Code Thesis Defense</dc:title>
  <cp:lastModifiedBy>THIEN BUI</cp:lastModifiedBy>
  <cp:revision>71</cp:revision>
  <dcterms:modified xsi:type="dcterms:W3CDTF">2023-05-15T17:42:18Z</dcterms:modified>
</cp:coreProperties>
</file>